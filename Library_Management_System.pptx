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8"/>
    <p:sldId id="258" r:id="rId9"/>
    <p:sldId id="259" r:id="rId10"/>
    <p:sldId id="260" r:id="rId11"/>
    <p:sldId id="261" r:id="rId12"/>
    <p:sldId id="262" r:id="rId13"/>
    <p:sldId id="263" r:id="rId14"/>
    <p:sldId id="264" r:id="rId15"/>
    <p:sldId id="265"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85" d="100"/>
          <a:sy n="85" d="100"/>
        </p:scale>
        <p:origin x="1518" y="9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5624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each member's PRN before the review.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vitlogo.png"/>
          <p:cNvPicPr>
            <a:picLocks noChangeAspect="1"/>
          </p:cNvPicPr>
          <p:nvPr/>
        </p:nvPicPr>
        <p:blipFill>
          <a:blip r:embed="rId3"/>
          <a:stretch>
            <a:fillRect/>
          </a:stretch>
        </p:blipFill>
        <p:spPr>
          <a:xfrm>
            <a:off x="0" y="0"/>
            <a:ext cx="966521" cy="1092708"/>
          </a:xfrm>
          <a:prstGeom prst="rect">
            <a:avLst/>
          </a:prstGeom>
        </p:spPr>
      </p:pic>
      <p:sp>
        <p:nvSpPr>
          <p:cNvPr id="3" name="Text 0"/>
          <p:cNvSpPr txBox="1"/>
          <p:nvPr/>
        </p:nvSpPr>
        <p:spPr>
          <a:xfrm>
            <a:off x="1097280" y="109728"/>
            <a:ext cx="10058400" cy="365760"/>
          </a:xfrm>
          <a:prstGeom prst="rect">
            <a:avLst/>
          </a:prstGeom>
          <a:noFill/>
          <a:ln/>
        </p:spPr>
        <p:txBody>
          <a:bodyPr wrap="square" rtlCol="0" anchor="ctr"/>
          <a:lstStyle/>
          <a:p>
            <a:pPr marL="0" indent="0" algn="ctr">
              <a:buNone/>
            </a:pPr>
            <a:r>
              <a:rPr lang="en-US" sz="1600" b="1" dirty="0">
                <a:solidFill>
                  <a:srgbClr val="3333FF"/>
                </a:solidFill>
                <a:latin typeface="Arial" pitchFamily="34" charset="0"/>
                <a:ea typeface="Arial" pitchFamily="34" charset="-122"/>
                <a:cs typeface="Arial" pitchFamily="34" charset="-120"/>
              </a:rPr>
              <a:t>PPT FOR </a:t>
            </a:r>
            <a:r>
              <a:rPr lang="en-US" sz="1600" b="1" dirty="0" smtClean="0">
                <a:solidFill>
                  <a:srgbClr val="3333FF"/>
                </a:solidFill>
                <a:latin typeface="Arial" pitchFamily="34" charset="0"/>
                <a:ea typeface="Arial" pitchFamily="34" charset="-122"/>
                <a:cs typeface="Arial" pitchFamily="34" charset="-120"/>
              </a:rPr>
              <a:t>MID-SEMESTER </a:t>
            </a:r>
            <a:r>
              <a:rPr lang="en-US" sz="1600" b="1" dirty="0" smtClean="0">
                <a:solidFill>
                  <a:srgbClr val="3333FF"/>
                </a:solidFill>
                <a:latin typeface="Arial" pitchFamily="34" charset="0"/>
                <a:ea typeface="Arial" pitchFamily="34" charset="-122"/>
                <a:cs typeface="Arial" pitchFamily="34" charset="-120"/>
              </a:rPr>
              <a:t>REVIEW </a:t>
            </a:r>
            <a:r>
              <a:rPr lang="en-US" sz="1600" b="1" dirty="0">
                <a:solidFill>
                  <a:srgbClr val="3333FF"/>
                </a:solidFill>
                <a:latin typeface="Arial" pitchFamily="34" charset="0"/>
                <a:ea typeface="Arial" pitchFamily="34" charset="-122"/>
                <a:cs typeface="Arial" pitchFamily="34" charset="-120"/>
              </a:rPr>
              <a:t>– SEPTEMBER 2026</a:t>
            </a:r>
            <a:endParaRPr lang="en-US" sz="1600" dirty="0"/>
          </a:p>
        </p:txBody>
      </p:sp>
      <p:sp>
        <p:nvSpPr>
          <p:cNvPr id="4" name="Shape 1"/>
          <p:cNvSpPr/>
          <p:nvPr/>
        </p:nvSpPr>
        <p:spPr>
          <a:xfrm>
            <a:off x="1097280" y="658368"/>
            <a:ext cx="10360152" cy="1234440"/>
          </a:xfrm>
          <a:prstGeom prst="rect">
            <a:avLst/>
          </a:prstGeom>
          <a:solidFill>
            <a:srgbClr val="FFFFFF"/>
          </a:solidFill>
          <a:ln w="19050">
            <a:solidFill>
              <a:srgbClr val="111111"/>
            </a:solidFill>
            <a:prstDash val="solid"/>
          </a:ln>
        </p:spPr>
        <p:txBody>
          <a:bodyPr/>
          <a:p/>
        </p:txBody>
      </p:sp>
      <p:sp>
        <p:nvSpPr>
          <p:cNvPr id="5" name="Text 2"/>
          <p:cNvSpPr txBox="1"/>
          <p:nvPr/>
        </p:nvSpPr>
        <p:spPr>
          <a:xfrm>
            <a:off x="1188720" y="694944"/>
            <a:ext cx="10177272" cy="1161288"/>
          </a:xfrm>
          <a:prstGeom prst="rect">
            <a:avLst/>
          </a:prstGeom>
          <a:noFill/>
          <a:ln/>
        </p:spPr>
        <p:txBody>
          <a:bodyPr wrap="square" rtlCol="0" anchor="ctr"/>
          <a:lstStyle/>
          <a:p>
            <a:pPr marL="0" indent="0" algn="ctr">
              <a:buNone/>
            </a:pPr>
            <a:r>
              <a:rPr lang="en-US" sz="2200" b="1" dirty="0">
                <a:solidFill>
                  <a:srgbClr val="111111"/>
                </a:solidFill>
                <a:latin typeface="Arial" pitchFamily="34" charset="0"/>
                <a:ea typeface="Arial" pitchFamily="34" charset="-122"/>
                <a:cs typeface="Arial" pitchFamily="34" charset="-120"/>
              </a:rPr>
              <a:t>TITLE :- </a:t>
            </a:r>
            <a:r>
              <a:rPr lang="en-US" sz="2200" b="1" dirty="0">
                <a:solidFill>
                  <a:srgbClr val="FF0000"/>
                </a:solidFill>
                <a:latin typeface="Arial" pitchFamily="34" charset="0"/>
                <a:ea typeface="Arial" pitchFamily="34" charset="-122"/>
                <a:cs typeface="Arial" pitchFamily="34" charset="-120"/>
              </a:rPr>
              <a:t>Library Management System — A Desktop Application in Java using Swing and SQLite</a:t>
            </a:r>
            <a:endParaRPr lang="en-US" sz="2200" dirty="0"/>
          </a:p>
        </p:txBody>
      </p:sp>
      <p:sp>
        <p:nvSpPr>
          <p:cNvPr id="6" name="Text 3"/>
          <p:cNvSpPr txBox="1"/>
          <p:nvPr/>
        </p:nvSpPr>
        <p:spPr>
          <a:xfrm>
            <a:off x="731520" y="2148840"/>
            <a:ext cx="10725912" cy="365760"/>
          </a:xfrm>
          <a:prstGeom prst="rect">
            <a:avLst/>
          </a:prstGeom>
          <a:noFill/>
          <a:ln/>
        </p:spPr>
        <p:txBody>
          <a:bodyPr wrap="square" rtlCol="0" anchor="ctr"/>
          <a:lstStyle/>
          <a:p>
            <a:pPr marL="0" indent="0" algn="ctr">
              <a:buNone/>
            </a:pPr>
            <a:r>
              <a:rPr lang="en-US" sz="1600" b="1" dirty="0">
                <a:solidFill>
                  <a:srgbClr val="111111"/>
                </a:solidFill>
                <a:latin typeface="Arial" pitchFamily="34" charset="0"/>
                <a:ea typeface="Arial" pitchFamily="34" charset="-122"/>
                <a:cs typeface="Arial" pitchFamily="34" charset="-120"/>
              </a:rPr>
              <a:t>Div:-  C          Group No :-  3          Day:-  Thursday          Date:-  24/09/2026</a:t>
            </a:r>
            <a:endParaRPr lang="en-US" sz="1600" dirty="0"/>
          </a:p>
        </p:txBody>
      </p:sp>
      <p:sp>
        <p:nvSpPr>
          <p:cNvPr id="7" name="Text 4"/>
          <p:cNvSpPr txBox="1"/>
          <p:nvPr/>
        </p:nvSpPr>
        <p:spPr>
          <a:xfrm>
            <a:off x="1188720" y="2834640"/>
            <a:ext cx="4754880" cy="365760"/>
          </a:xfrm>
          <a:prstGeom prst="rect">
            <a:avLst/>
          </a:prstGeom>
          <a:noFill/>
          <a:ln/>
        </p:spPr>
        <p:txBody>
          <a:bodyPr wrap="square" rtlCol="0" anchor="ctr"/>
          <a:lstStyle/>
          <a:p>
            <a:pPr marL="0" indent="0" algn="ctr">
              <a:buNone/>
            </a:pPr>
            <a:r>
              <a:rPr lang="en-US" sz="1800" b="1" dirty="0">
                <a:solidFill>
                  <a:srgbClr val="111111"/>
                </a:solidFill>
                <a:latin typeface="Arial" pitchFamily="34" charset="0"/>
                <a:ea typeface="Arial" pitchFamily="34" charset="-122"/>
                <a:cs typeface="Arial" pitchFamily="34" charset="-120"/>
              </a:rPr>
              <a:t>Presented by</a:t>
            </a:r>
            <a:endParaRPr lang="en-US" sz="1800" dirty="0"/>
          </a:p>
        </p:txBody>
      </p:sp>
      <p:graphicFrame>
        <p:nvGraphicFramePr>
          <p:cNvPr id="8" name="Table 0"/>
          <p:cNvGraphicFramePr>
            <a:graphicFrameLocks noGrp="1"/>
          </p:cNvGraphicFramePr>
          <p:nvPr>
            <p:extLst>
              <p:ext uri="{D42A27DB-BD31-4B8C-83A1-F6EECF244321}">
                <p14:modId xmlns:p14="http://schemas.microsoft.com/office/powerpoint/2010/main" val="1108162550"/>
              </p:ext>
            </p:extLst>
          </p:nvPr>
        </p:nvGraphicFramePr>
        <p:xfrm>
          <a:off x="1188720" y="3291840"/>
          <a:ext cx="4754880" cy="1316736"/>
        </p:xfrm>
        <a:graphic>
          <a:graphicData uri="http://schemas.openxmlformats.org/drawingml/2006/table">
            <a:tbl>
              <a:tblPr/>
              <a:tblGrid>
                <a:gridCol w="411480"/>
                <a:gridCol w="2606040"/>
                <a:gridCol w="1737360"/>
              </a:tblGrid>
              <a:tr h="329184">
                <a:tc>
                  <a:txBody>
                    <a:bodyPr/>
                    <a:lstStyle/>
                    <a:p>
                      <a:pPr marL="0" indent="0">
                        <a:buNone/>
                      </a:pPr>
                      <a:r>
                        <a:rPr lang="en-US" sz="1500" dirty="0">
                          <a:solidFill>
                            <a:srgbClr val="111111"/>
                          </a:solidFill>
                          <a:latin typeface="Arial" pitchFamily="34" charset="0"/>
                          <a:ea typeface="Arial" pitchFamily="34" charset="-122"/>
                          <a:cs typeface="Arial" pitchFamily="34" charset="-120"/>
                        </a:rPr>
                        <a:t>1)</a:t>
                      </a:r>
                      <a:endParaRPr lang="en-US" sz="1500" dirty="0">
                        <a:latin typeface="Arial" charset="0"/>
                        <a:ea typeface="Arial" charset="0"/>
                        <a:cs typeface="Arial" charset="0"/>
                      </a:endParaRPr>
                    </a:p>
                  </a:txBody>
                  <a:tcP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pPr marL="0" indent="0">
                        <a:buNone/>
                      </a:pPr>
                      <a:r>
                        <a:rPr lang="en-US" sz="1500" dirty="0">
                          <a:solidFill>
                            <a:srgbClr val="111111"/>
                          </a:solidFill>
                          <a:latin typeface="Arial" pitchFamily="34" charset="0"/>
                          <a:ea typeface="Arial" pitchFamily="34" charset="-122"/>
                          <a:cs typeface="Arial" pitchFamily="34" charset="-120"/>
                        </a:rPr>
                        <a:t>Aarush Sangle</a:t>
                      </a:r>
                      <a:endParaRPr lang="en-US" sz="1500" dirty="0">
                        <a:latin typeface="Arial" charset="0"/>
                        <a:ea typeface="Arial" charset="0"/>
                        <a:cs typeface="Arial" charset="0"/>
                      </a:endParaRPr>
                    </a:p>
                  </a:txBody>
                  <a:tcP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pPr marL="0" indent="0">
                        <a:buNone/>
                      </a:pPr>
                      <a:r>
                        <a:rPr lang="en-US" sz="1500" dirty="0" smtClean="0">
                          <a:latin typeface="Arial" charset="0"/>
                          <a:ea typeface="Arial" charset="0"/>
                          <a:cs typeface="Arial" charset="0"/>
                        </a:rPr>
                        <a:t>22</a:t>
                      </a:r>
                      <a:endParaRPr lang="en-US" sz="1500" dirty="0">
                        <a:latin typeface="Arial" charset="0"/>
                        <a:ea typeface="Arial" charset="0"/>
                        <a:cs typeface="Arial" charset="0"/>
                      </a:endParaRPr>
                    </a:p>
                  </a:txBody>
                  <a:tcP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r>
              <a:tr h="329184">
                <a:tc>
                  <a:txBody>
                    <a:bodyPr/>
                    <a:lstStyle/>
                    <a:p>
                      <a:pPr marL="0" indent="0">
                        <a:buNone/>
                      </a:pPr>
                      <a:r>
                        <a:rPr lang="en-US" sz="1500" dirty="0">
                          <a:solidFill>
                            <a:srgbClr val="111111"/>
                          </a:solidFill>
                          <a:latin typeface="Arial" pitchFamily="34" charset="0"/>
                          <a:ea typeface="Arial" pitchFamily="34" charset="-122"/>
                          <a:cs typeface="Arial" pitchFamily="34" charset="-120"/>
                        </a:rPr>
                        <a:t>2)</a:t>
                      </a:r>
                      <a:endParaRPr lang="en-US" sz="1500" dirty="0">
                        <a:latin typeface="Arial" charset="0"/>
                        <a:ea typeface="Arial" charset="0"/>
                        <a:cs typeface="Arial" charset="0"/>
                      </a:endParaRPr>
                    </a:p>
                  </a:txBody>
                  <a:tcP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pPr marL="0" indent="0">
                        <a:buNone/>
                      </a:pPr>
                      <a:r>
                        <a:rPr lang="en-US" sz="1500" dirty="0">
                          <a:solidFill>
                            <a:srgbClr val="111111"/>
                          </a:solidFill>
                          <a:latin typeface="Arial" pitchFamily="34" charset="0"/>
                          <a:ea typeface="Arial" pitchFamily="34" charset="-122"/>
                          <a:cs typeface="Arial" pitchFamily="34" charset="-120"/>
                        </a:rPr>
                        <a:t>Pashmee Salunkhe</a:t>
                      </a:r>
                      <a:endParaRPr lang="en-US" sz="1500" dirty="0">
                        <a:latin typeface="Arial" charset="0"/>
                        <a:ea typeface="Arial" charset="0"/>
                        <a:cs typeface="Arial" charset="0"/>
                      </a:endParaRPr>
                    </a:p>
                  </a:txBody>
                  <a:tcP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pPr marL="0" indent="0">
                        <a:buNone/>
                      </a:pPr>
                      <a:r>
                        <a:rPr lang="en-US" sz="1500" dirty="0" smtClean="0">
                          <a:latin typeface="Arial" charset="0"/>
                          <a:ea typeface="Arial" charset="0"/>
                          <a:cs typeface="Arial" charset="0"/>
                        </a:rPr>
                        <a:t>17</a:t>
                      </a:r>
                      <a:endParaRPr lang="en-US" sz="1500" dirty="0">
                        <a:latin typeface="Arial" charset="0"/>
                        <a:ea typeface="Arial" charset="0"/>
                        <a:cs typeface="Arial" charset="0"/>
                      </a:endParaRPr>
                    </a:p>
                  </a:txBody>
                  <a:tcP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r>
              <a:tr h="329184">
                <a:tc>
                  <a:txBody>
                    <a:bodyPr/>
                    <a:lstStyle/>
                    <a:p>
                      <a:pPr marL="0" indent="0">
                        <a:buNone/>
                      </a:pPr>
                      <a:r>
                        <a:rPr lang="en-US" sz="1500" dirty="0">
                          <a:solidFill>
                            <a:srgbClr val="111111"/>
                          </a:solidFill>
                          <a:latin typeface="Arial" pitchFamily="34" charset="0"/>
                          <a:ea typeface="Arial" pitchFamily="34" charset="-122"/>
                          <a:cs typeface="Arial" pitchFamily="34" charset="-120"/>
                        </a:rPr>
                        <a:t>3)</a:t>
                      </a:r>
                      <a:endParaRPr lang="en-US" sz="1500" dirty="0">
                        <a:latin typeface="Arial" charset="0"/>
                        <a:ea typeface="Arial" charset="0"/>
                        <a:cs typeface="Arial" charset="0"/>
                      </a:endParaRPr>
                    </a:p>
                  </a:txBody>
                  <a:tcP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pPr marL="0" indent="0">
                        <a:buNone/>
                      </a:pPr>
                      <a:r>
                        <a:rPr lang="en-US" sz="1500" dirty="0">
                          <a:solidFill>
                            <a:srgbClr val="111111"/>
                          </a:solidFill>
                          <a:latin typeface="Arial" pitchFamily="34" charset="0"/>
                          <a:ea typeface="Arial" pitchFamily="34" charset="-122"/>
                          <a:cs typeface="Arial" pitchFamily="34" charset="-120"/>
                        </a:rPr>
                        <a:t>Rohan Rangapure</a:t>
                      </a:r>
                      <a:endParaRPr lang="en-US" sz="1500" dirty="0">
                        <a:latin typeface="Arial" charset="0"/>
                        <a:ea typeface="Arial" charset="0"/>
                        <a:cs typeface="Arial" charset="0"/>
                      </a:endParaRPr>
                    </a:p>
                  </a:txBody>
                  <a:tcP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pPr marL="0" indent="0">
                        <a:buNone/>
                      </a:pPr>
                      <a:r>
                        <a:rPr lang="en-US" sz="1500" dirty="0" smtClean="0">
                          <a:latin typeface="Arial" charset="0"/>
                          <a:ea typeface="Arial" charset="0"/>
                          <a:cs typeface="Arial" charset="0"/>
                        </a:rPr>
                        <a:t>13</a:t>
                      </a:r>
                      <a:endParaRPr lang="en-US" sz="1500" dirty="0">
                        <a:latin typeface="Arial" charset="0"/>
                        <a:ea typeface="Arial" charset="0"/>
                        <a:cs typeface="Arial" charset="0"/>
                      </a:endParaRPr>
                    </a:p>
                  </a:txBody>
                  <a:tcP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r>
              <a:tr h="329184">
                <a:tc>
                  <a:txBody>
                    <a:bodyPr/>
                    <a:lstStyle/>
                    <a:p>
                      <a:pPr marL="0" indent="0">
                        <a:buNone/>
                      </a:pPr>
                      <a:r>
                        <a:rPr lang="en-US" sz="1500" dirty="0">
                          <a:solidFill>
                            <a:srgbClr val="111111"/>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pPr marL="0" indent="0">
                        <a:buNone/>
                      </a:pPr>
                      <a:r>
                        <a:rPr lang="en-US" sz="1500" dirty="0">
                          <a:solidFill>
                            <a:srgbClr val="111111"/>
                          </a:solidFill>
                          <a:latin typeface="Arial" pitchFamily="34" charset="0"/>
                          <a:ea typeface="Arial" pitchFamily="34" charset="-122"/>
                          <a:cs typeface="Arial" pitchFamily="34" charset="-120"/>
                        </a:rPr>
                        <a:t>Sanchali Patil</a:t>
                      </a:r>
                      <a:endParaRPr lang="en-US" sz="1500" dirty="0">
                        <a:latin typeface="Arial" charset="0"/>
                        <a:ea typeface="Arial" charset="0"/>
                        <a:cs typeface="Arial" charset="0"/>
                      </a:endParaRPr>
                    </a:p>
                  </a:txBody>
                  <a:tcP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c>
                  <a:txBody>
                    <a:bodyPr/>
                    <a:lstStyle/>
                    <a:p>
                      <a:pPr marL="0" indent="0">
                        <a:buNone/>
                      </a:pPr>
                      <a:r>
                        <a:rPr lang="en-US" sz="1500" dirty="0" smtClean="0">
                          <a:latin typeface="Arial" charset="0"/>
                          <a:ea typeface="Arial" charset="0"/>
                          <a:cs typeface="Arial" charset="0"/>
                        </a:rPr>
                        <a:t>19</a:t>
                      </a:r>
                      <a:endParaRPr lang="en-US" sz="1500" dirty="0">
                        <a:latin typeface="Arial" charset="0"/>
                        <a:ea typeface="Arial" charset="0"/>
                        <a:cs typeface="Arial" charset="0"/>
                      </a:endParaRPr>
                    </a:p>
                  </a:txBody>
                  <a:tcPr>
                    <a:lnL w="12700" cap="flat" cmpd="sng" algn="ctr">
                      <a:solidFill>
                        <a:srgbClr val="111111"/>
                      </a:solidFill>
                      <a:prstDash val="solid"/>
                      <a:round/>
                      <a:headEnd type="none" w="med" len="med"/>
                      <a:tailEnd type="none" w="med" len="med"/>
                    </a:lnL>
                    <a:lnR w="12700" cap="flat" cmpd="sng" algn="ctr">
                      <a:solidFill>
                        <a:srgbClr val="111111"/>
                      </a:solidFill>
                      <a:prstDash val="solid"/>
                      <a:round/>
                      <a:headEnd type="none" w="med" len="med"/>
                      <a:tailEnd type="none" w="med" len="med"/>
                    </a:lnR>
                    <a:lnT w="12700"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tcPr>
                </a:tc>
              </a:tr>
            </a:tbl>
          </a:graphicData>
        </a:graphic>
      </p:graphicFrame>
      <p:sp>
        <p:nvSpPr>
          <p:cNvPr id="9" name="Text 5"/>
          <p:cNvSpPr txBox="1"/>
          <p:nvPr/>
        </p:nvSpPr>
        <p:spPr>
          <a:xfrm>
            <a:off x="6675120" y="2834640"/>
            <a:ext cx="4023360" cy="365760"/>
          </a:xfrm>
          <a:prstGeom prst="rect">
            <a:avLst/>
          </a:prstGeom>
          <a:noFill/>
          <a:ln/>
        </p:spPr>
        <p:txBody>
          <a:bodyPr wrap="square" rtlCol="0" anchor="ctr"/>
          <a:lstStyle/>
          <a:p>
            <a:pPr marL="0" indent="0" algn="ctr">
              <a:buNone/>
            </a:pPr>
            <a:r>
              <a:rPr lang="en-US" sz="1800" b="1" dirty="0">
                <a:solidFill>
                  <a:srgbClr val="111111"/>
                </a:solidFill>
                <a:latin typeface="Arial" pitchFamily="34" charset="0"/>
                <a:ea typeface="Arial" pitchFamily="34" charset="-122"/>
                <a:cs typeface="Arial" pitchFamily="34" charset="-120"/>
              </a:rPr>
              <a:t>Project Guide</a:t>
            </a:r>
            <a:endParaRPr lang="en-US" sz="1800" dirty="0"/>
          </a:p>
        </p:txBody>
      </p:sp>
      <p:sp>
        <p:nvSpPr>
          <p:cNvPr id="10" name="Shape 6"/>
          <p:cNvSpPr/>
          <p:nvPr/>
        </p:nvSpPr>
        <p:spPr>
          <a:xfrm>
            <a:off x="6675120" y="3291840"/>
            <a:ext cx="4023360" cy="411480"/>
          </a:xfrm>
          <a:prstGeom prst="rect">
            <a:avLst/>
          </a:prstGeom>
          <a:solidFill>
            <a:srgbClr val="FFFFFF"/>
          </a:solidFill>
          <a:ln w="12700">
            <a:solidFill>
              <a:srgbClr val="111111"/>
            </a:solidFill>
            <a:prstDash val="solid"/>
          </a:ln>
        </p:spPr>
        <p:txBody>
          <a:bodyPr/>
          <a:p/>
        </p:txBody>
      </p:sp>
      <p:sp>
        <p:nvSpPr>
          <p:cNvPr id="11" name="Text 7"/>
          <p:cNvSpPr txBox="1"/>
          <p:nvPr/>
        </p:nvSpPr>
        <p:spPr>
          <a:xfrm>
            <a:off x="6675120" y="3291840"/>
            <a:ext cx="4023360" cy="411480"/>
          </a:xfrm>
          <a:prstGeom prst="rect">
            <a:avLst/>
          </a:prstGeom>
          <a:noFill/>
          <a:ln/>
        </p:spPr>
        <p:txBody>
          <a:bodyPr wrap="square" rtlCol="0" anchor="ctr"/>
          <a:lstStyle/>
          <a:p>
            <a:pPr marL="0" indent="0" algn="ctr">
              <a:buNone/>
            </a:pPr>
            <a:r>
              <a:rPr lang="en-US" sz="1600" dirty="0">
                <a:solidFill>
                  <a:srgbClr val="111111"/>
                </a:solidFill>
                <a:latin typeface="Arial" pitchFamily="34" charset="0"/>
                <a:ea typeface="Arial" pitchFamily="34" charset="-122"/>
                <a:cs typeface="Arial" pitchFamily="34" charset="-120"/>
              </a:rPr>
              <a:t>Dr. Priya Shelke</a:t>
            </a:r>
            <a:endParaRPr lang="en-US" sz="1600" dirty="0"/>
          </a:p>
        </p:txBody>
      </p:sp>
      <p:sp>
        <p:nvSpPr>
          <p:cNvPr id="12" name="Text 8"/>
          <p:cNvSpPr txBox="1"/>
          <p:nvPr/>
        </p:nvSpPr>
        <p:spPr>
          <a:xfrm>
            <a:off x="1188720" y="5349240"/>
            <a:ext cx="9784080" cy="365760"/>
          </a:xfrm>
          <a:prstGeom prst="rect">
            <a:avLst/>
          </a:prstGeom>
          <a:noFill/>
          <a:ln/>
        </p:spPr>
        <p:txBody>
          <a:bodyPr wrap="square" rtlCol="0" anchor="ctr"/>
          <a:lstStyle/>
          <a:p>
            <a:pPr marL="0" indent="0" algn="ctr">
              <a:buNone/>
            </a:pPr>
            <a:r>
              <a:rPr lang="en-US" sz="1800" b="1" dirty="0">
                <a:solidFill>
                  <a:srgbClr val="111111"/>
                </a:solidFill>
                <a:latin typeface="Arial" pitchFamily="34" charset="0"/>
                <a:ea typeface="Arial" pitchFamily="34" charset="-122"/>
                <a:cs typeface="Arial" pitchFamily="34" charset="-120"/>
              </a:rPr>
              <a:t>DEPARTMENT OF CSE-IOTCSBT</a:t>
            </a:r>
            <a:endParaRPr lang="en-US" sz="1800" dirty="0"/>
          </a:p>
        </p:txBody>
      </p:sp>
      <p:sp>
        <p:nvSpPr>
          <p:cNvPr id="13" name="Text 9"/>
          <p:cNvSpPr txBox="1"/>
          <p:nvPr/>
        </p:nvSpPr>
        <p:spPr>
          <a:xfrm>
            <a:off x="1188720" y="5806440"/>
            <a:ext cx="9784080" cy="365760"/>
          </a:xfrm>
          <a:prstGeom prst="rect">
            <a:avLst/>
          </a:prstGeom>
          <a:noFill/>
          <a:ln/>
        </p:spPr>
        <p:txBody>
          <a:bodyPr wrap="square" rtlCol="0" anchor="ctr"/>
          <a:lstStyle/>
          <a:p>
            <a:pPr marL="0" indent="0" algn="ctr">
              <a:buNone/>
            </a:pPr>
            <a:r>
              <a:rPr lang="en-US" sz="1800" b="1" dirty="0">
                <a:solidFill>
                  <a:srgbClr val="111111"/>
                </a:solidFill>
                <a:latin typeface="Arial" pitchFamily="34" charset="0"/>
                <a:ea typeface="Arial" pitchFamily="34" charset="-122"/>
                <a:cs typeface="Arial" pitchFamily="34" charset="-120"/>
              </a:rPr>
              <a:t>VISHWAKARMA INSTITUTE OF TECHNOLOGY, PUNE</a:t>
            </a:r>
            <a:endParaRPr lang="en-US" sz="1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69264" cy="1097280"/>
          </a:xfrm>
          <a:prstGeom prst="rect">
            <a:avLst/>
          </a:prstGeom>
        </p:spPr>
      </p:pic>
      <p:sp>
        <p:nvSpPr>
          <p:cNvPr id="3" name="TextBox 2"/>
          <p:cNvSpPr txBox="1"/>
          <p:nvPr/>
        </p:nvSpPr>
        <p:spPr>
          <a:xfrm>
            <a:off x="1097280" y="109728"/>
            <a:ext cx="9994392" cy="777240"/>
          </a:xfrm>
          <a:prstGeom prst="rect">
            <a:avLst/>
          </a:prstGeom>
          <a:noFill/>
        </p:spPr>
        <p:txBody>
          <a:bodyPr wrap="square" anchor="ctr">
            <a:spAutoFit/>
          </a:bodyPr>
          <a:lstStyle/>
          <a:p>
            <a:pPr algn="ctr"/>
            <a:r>
              <a:rPr sz="3200">
                <a:solidFill>
                  <a:srgbClr val="111111"/>
                </a:solidFill>
                <a:latin typeface="Calibri"/>
              </a:rPr>
              <a:t>Introduction and Objectives</a:t>
            </a:r>
          </a:p>
        </p:txBody>
      </p:sp>
      <p:sp>
        <p:nvSpPr>
          <p:cNvPr id="4" name="Rectangle 3"/>
          <p:cNvSpPr/>
          <p:nvPr/>
        </p:nvSpPr>
        <p:spPr>
          <a:xfrm>
            <a:off x="0" y="6510528"/>
            <a:ext cx="12188952" cy="347472"/>
          </a:xfrm>
          <a:prstGeom prst="rect">
            <a:avLst/>
          </a:prstGeom>
          <a:solidFill>
            <a:srgbClr val="43A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510528"/>
            <a:ext cx="10908792" cy="347472"/>
          </a:xfrm>
          <a:prstGeom prst="rect">
            <a:avLst/>
          </a:prstGeom>
          <a:noFill/>
        </p:spPr>
        <p:txBody>
          <a:bodyPr wrap="square" anchor="ctr">
            <a:spAutoFit/>
          </a:bodyPr>
          <a:lstStyle/>
          <a:p>
            <a:pPr algn="ctr"/>
            <a:r>
              <a:rPr sz="1300" b="1">
                <a:solidFill>
                  <a:srgbClr val="111111"/>
                </a:solidFill>
                <a:latin typeface="Calibri"/>
              </a:rPr>
              <a:t>Department of CSE-IOTCSBT, Vishwakarma Institute of Technology, Pune-37</a:t>
            </a:r>
          </a:p>
        </p:txBody>
      </p:sp>
      <p:sp>
        <p:nvSpPr>
          <p:cNvPr id="6" name="TextBox 5"/>
          <p:cNvSpPr txBox="1"/>
          <p:nvPr/>
        </p:nvSpPr>
        <p:spPr>
          <a:xfrm>
            <a:off x="11365992" y="6510528"/>
            <a:ext cx="640080" cy="347472"/>
          </a:xfrm>
          <a:prstGeom prst="rect">
            <a:avLst/>
          </a:prstGeom>
          <a:noFill/>
        </p:spPr>
        <p:txBody>
          <a:bodyPr wrap="none" anchor="ctr">
            <a:spAutoFit/>
          </a:bodyPr>
          <a:lstStyle/>
          <a:p>
            <a:pPr algn="r"/>
            <a:r>
              <a:rPr sz="1200" b="1">
                <a:solidFill>
                  <a:srgbClr val="111111"/>
                </a:solidFill>
                <a:latin typeface="Calibri"/>
              </a:rPr>
              <a:t>2</a:t>
            </a:r>
          </a:p>
        </p:txBody>
      </p:sp>
      <p:sp>
        <p:nvSpPr>
          <p:cNvPr id="7" name="TextBox 6"/>
          <p:cNvSpPr txBox="1"/>
          <p:nvPr/>
        </p:nvSpPr>
        <p:spPr>
          <a:xfrm>
            <a:off x="411480" y="1188720"/>
            <a:ext cx="5532120" cy="274320"/>
          </a:xfrm>
          <a:prstGeom prst="rect">
            <a:avLst/>
          </a:prstGeom>
          <a:noFill/>
        </p:spPr>
        <p:txBody>
          <a:bodyPr wrap="square" anchor="t" lIns="0" rIns="0" tIns="0" bIns="0">
            <a:spAutoFit/>
          </a:bodyPr>
          <a:lstStyle/>
          <a:p>
            <a:pPr algn="l">
              <a:spcAft>
                <a:spcPts val="400"/>
              </a:spcAft>
            </a:pPr>
            <a:r>
              <a:rPr sz="1500" b="1" i="0">
                <a:solidFill>
                  <a:srgbClr val="13233A"/>
                </a:solidFill>
                <a:latin typeface="Calibri"/>
              </a:rPr>
              <a:t>What the system is</a:t>
            </a:r>
          </a:p>
        </p:txBody>
      </p:sp>
      <p:sp>
        <p:nvSpPr>
          <p:cNvPr id="8" name="TextBox 7"/>
          <p:cNvSpPr txBox="1"/>
          <p:nvPr/>
        </p:nvSpPr>
        <p:spPr>
          <a:xfrm>
            <a:off x="411480" y="1536192"/>
            <a:ext cx="5532120" cy="1005840"/>
          </a:xfrm>
          <a:prstGeom prst="rect">
            <a:avLst/>
          </a:prstGeom>
          <a:noFill/>
        </p:spPr>
        <p:txBody>
          <a:bodyPr wrap="square" anchor="t" lIns="0" rIns="0" tIns="0" bIns="0">
            <a:spAutoFit/>
          </a:bodyPr>
          <a:lstStyle/>
          <a:p>
            <a:pPr algn="l">
              <a:lnSpc>
                <a:spcPct val="105000"/>
              </a:lnSpc>
              <a:spcAft>
                <a:spcPts val="0"/>
              </a:spcAft>
            </a:pPr>
            <a:r>
              <a:rPr sz="1350" b="0" i="0">
                <a:solidFill>
                  <a:srgbClr val="111111"/>
                </a:solidFill>
                <a:latin typeface="Calibri"/>
              </a:rPr>
              <a:t>A desktop application for running a small library — a school, college or community one. It keeps the catalogue of books and the list of members, and tracks who has what, when it is due back, and what is owed if it comes back late.</a:t>
            </a:r>
          </a:p>
        </p:txBody>
      </p:sp>
      <p:sp>
        <p:nvSpPr>
          <p:cNvPr id="9" name="TextBox 8"/>
          <p:cNvSpPr txBox="1"/>
          <p:nvPr/>
        </p:nvSpPr>
        <p:spPr>
          <a:xfrm>
            <a:off x="411480" y="2697480"/>
            <a:ext cx="5532120" cy="274320"/>
          </a:xfrm>
          <a:prstGeom prst="rect">
            <a:avLst/>
          </a:prstGeom>
          <a:noFill/>
        </p:spPr>
        <p:txBody>
          <a:bodyPr wrap="square" anchor="t" lIns="0" rIns="0" tIns="0" bIns="0">
            <a:spAutoFit/>
          </a:bodyPr>
          <a:lstStyle/>
          <a:p>
            <a:pPr algn="l">
              <a:spcAft>
                <a:spcPts val="400"/>
              </a:spcAft>
            </a:pPr>
            <a:r>
              <a:rPr sz="1500" b="1" i="0">
                <a:solidFill>
                  <a:srgbClr val="13233A"/>
                </a:solidFill>
                <a:latin typeface="Calibri"/>
              </a:rPr>
              <a:t>Why it is needed</a:t>
            </a:r>
          </a:p>
        </p:txBody>
      </p:sp>
      <p:sp>
        <p:nvSpPr>
          <p:cNvPr id="10" name="TextBox 9"/>
          <p:cNvSpPr txBox="1"/>
          <p:nvPr/>
        </p:nvSpPr>
        <p:spPr>
          <a:xfrm>
            <a:off x="411480" y="3044952"/>
            <a:ext cx="5532120" cy="1005840"/>
          </a:xfrm>
          <a:prstGeom prst="rect">
            <a:avLst/>
          </a:prstGeom>
          <a:noFill/>
        </p:spPr>
        <p:txBody>
          <a:bodyPr wrap="square" anchor="t" lIns="0" rIns="0" tIns="0" bIns="0">
            <a:spAutoFit/>
          </a:bodyPr>
          <a:lstStyle/>
          <a:p>
            <a:pPr algn="l">
              <a:lnSpc>
                <a:spcPct val="105000"/>
              </a:lnSpc>
              <a:spcAft>
                <a:spcPts val="0"/>
              </a:spcAft>
            </a:pPr>
            <a:r>
              <a:rPr sz="1350" b="0" i="0">
                <a:solidFill>
                  <a:srgbClr val="111111"/>
                </a:solidFill>
                <a:latin typeface="Calibri"/>
              </a:rPr>
              <a:t>A paper register cannot tell you what is overdue today, cannot stop the last copy being lent twice, and cannot add up a fine. A librarian needs those answers in seconds, at the desk.</a:t>
            </a:r>
          </a:p>
        </p:txBody>
      </p:sp>
      <p:sp>
        <p:nvSpPr>
          <p:cNvPr id="11" name="TextBox 10"/>
          <p:cNvSpPr txBox="1"/>
          <p:nvPr/>
        </p:nvSpPr>
        <p:spPr>
          <a:xfrm>
            <a:off x="411480" y="4133087"/>
            <a:ext cx="5532120" cy="274320"/>
          </a:xfrm>
          <a:prstGeom prst="rect">
            <a:avLst/>
          </a:prstGeom>
          <a:noFill/>
        </p:spPr>
        <p:txBody>
          <a:bodyPr wrap="square" anchor="t" lIns="0" rIns="0" tIns="0" bIns="0">
            <a:spAutoFit/>
          </a:bodyPr>
          <a:lstStyle/>
          <a:p>
            <a:pPr algn="l">
              <a:spcAft>
                <a:spcPts val="400"/>
              </a:spcAft>
            </a:pPr>
            <a:r>
              <a:rPr sz="1500" b="1" i="0">
                <a:solidFill>
                  <a:srgbClr val="13233A"/>
                </a:solidFill>
                <a:latin typeface="Calibri"/>
              </a:rPr>
              <a:t>Our approach</a:t>
            </a:r>
          </a:p>
        </p:txBody>
      </p:sp>
      <p:sp>
        <p:nvSpPr>
          <p:cNvPr id="12" name="TextBox 11"/>
          <p:cNvSpPr txBox="1"/>
          <p:nvPr/>
        </p:nvSpPr>
        <p:spPr>
          <a:xfrm>
            <a:off x="411480" y="4480560"/>
            <a:ext cx="5532120" cy="1005840"/>
          </a:xfrm>
          <a:prstGeom prst="rect">
            <a:avLst/>
          </a:prstGeom>
          <a:noFill/>
        </p:spPr>
        <p:txBody>
          <a:bodyPr wrap="square" anchor="t" lIns="0" rIns="0" tIns="0" bIns="0">
            <a:spAutoFit/>
          </a:bodyPr>
          <a:lstStyle/>
          <a:p>
            <a:pPr algn="l">
              <a:lnSpc>
                <a:spcPct val="105000"/>
              </a:lnSpc>
              <a:spcAft>
                <a:spcPts val="0"/>
              </a:spcAft>
            </a:pPr>
            <a:r>
              <a:rPr sz="1350" b="0" i="0">
                <a:solidFill>
                  <a:srgbClr val="111111"/>
                </a:solidFill>
                <a:latin typeface="Calibri"/>
              </a:rPr>
              <a:t>One Java application and one SQLite file. No server to set up, no account to create and no internet connection. The librarian runs one command and the window opens.</a:t>
            </a:r>
          </a:p>
        </p:txBody>
      </p:sp>
      <p:sp>
        <p:nvSpPr>
          <p:cNvPr id="13" name="Rounded Rectangle 12"/>
          <p:cNvSpPr/>
          <p:nvPr/>
        </p:nvSpPr>
        <p:spPr>
          <a:xfrm>
            <a:off x="411480" y="5577840"/>
            <a:ext cx="5532120" cy="658368"/>
          </a:xfrm>
          <a:prstGeom prst="roundRect">
            <a:avLst>
              <a:gd name="adj" fmla="val 10000"/>
            </a:avLst>
          </a:prstGeom>
          <a:solidFill>
            <a:srgbClr val="E8EF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6809" bIns="76809"/>
          <a:lstStyle/>
          <a:p>
            <a:pPr algn="l">
              <a:spcAft>
                <a:spcPts val="0"/>
              </a:spcAft>
            </a:pPr>
            <a:r>
              <a:rPr sz="1250" b="1" i="0">
                <a:solidFill>
                  <a:srgbClr val="13233A"/>
                </a:solidFill>
                <a:latin typeface="Calibri"/>
              </a:rPr>
              <a:t>Course context:  </a:t>
            </a:r>
            <a:r>
              <a:rPr sz="1250" b="0" i="0">
                <a:solidFill>
                  <a:srgbClr val="111111"/>
                </a:solidFill>
                <a:latin typeface="Calibri"/>
              </a:rPr>
              <a:t>an Object-Oriented Programming project — the design is driven by classes, not by screens.</a:t>
            </a:r>
          </a:p>
        </p:txBody>
      </p:sp>
      <p:sp>
        <p:nvSpPr>
          <p:cNvPr id="14" name="TextBox 13"/>
          <p:cNvSpPr txBox="1"/>
          <p:nvPr/>
        </p:nvSpPr>
        <p:spPr>
          <a:xfrm>
            <a:off x="6355080" y="1188720"/>
            <a:ext cx="5440680" cy="274320"/>
          </a:xfrm>
          <a:prstGeom prst="rect">
            <a:avLst/>
          </a:prstGeom>
          <a:noFill/>
        </p:spPr>
        <p:txBody>
          <a:bodyPr wrap="square" anchor="t" lIns="0" rIns="0" tIns="0" bIns="0">
            <a:spAutoFit/>
          </a:bodyPr>
          <a:lstStyle/>
          <a:p>
            <a:pPr algn="l">
              <a:spcAft>
                <a:spcPts val="0"/>
              </a:spcAft>
            </a:pPr>
            <a:r>
              <a:rPr sz="1500" b="1" i="0">
                <a:solidFill>
                  <a:srgbClr val="13233A"/>
                </a:solidFill>
                <a:latin typeface="Calibri"/>
              </a:rPr>
              <a:t>Objectives</a:t>
            </a:r>
          </a:p>
        </p:txBody>
      </p:sp>
      <p:sp>
        <p:nvSpPr>
          <p:cNvPr id="15" name="Oval 14"/>
          <p:cNvSpPr/>
          <p:nvPr/>
        </p:nvSpPr>
        <p:spPr>
          <a:xfrm>
            <a:off x="6355080" y="1572768"/>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50" b="1" i="0">
                <a:solidFill>
                  <a:srgbClr val="FFFFFF"/>
                </a:solidFill>
                <a:latin typeface="Calibri"/>
              </a:rPr>
              <a:t>1</a:t>
            </a:r>
          </a:p>
        </p:txBody>
      </p:sp>
      <p:sp>
        <p:nvSpPr>
          <p:cNvPr id="16" name="TextBox 15"/>
          <p:cNvSpPr txBox="1"/>
          <p:nvPr/>
        </p:nvSpPr>
        <p:spPr>
          <a:xfrm>
            <a:off x="6775704" y="1545336"/>
            <a:ext cx="5020056" cy="941832"/>
          </a:xfrm>
          <a:prstGeom prst="rect">
            <a:avLst/>
          </a:prstGeom>
          <a:noFill/>
        </p:spPr>
        <p:txBody>
          <a:bodyPr wrap="square" anchor="t" lIns="0" rIns="0" tIns="0" bIns="0">
            <a:spAutoFit/>
          </a:bodyPr>
          <a:lstStyle/>
          <a:p>
            <a:pPr algn="l">
              <a:spcAft>
                <a:spcPts val="100"/>
              </a:spcAft>
            </a:pPr>
            <a:r>
              <a:rPr sz="1300" b="1" i="0">
                <a:solidFill>
                  <a:srgbClr val="13233A"/>
                </a:solidFill>
                <a:latin typeface="Calibri"/>
              </a:rPr>
              <a:t>Maintain a searchable catalogue</a:t>
            </a:r>
          </a:p>
          <a:p>
            <a:pPr algn="l">
              <a:spcAft>
                <a:spcPts val="0"/>
              </a:spcAft>
            </a:pPr>
            <a:r>
              <a:rPr sz="1250" b="0" i="0">
                <a:solidFill>
                  <a:srgbClr val="111111"/>
                </a:solidFill>
                <a:latin typeface="Calibri"/>
              </a:rPr>
              <a:t>Title, author, ISBN, category and shelf code, with copy counts.</a:t>
            </a:r>
          </a:p>
        </p:txBody>
      </p:sp>
      <p:sp>
        <p:nvSpPr>
          <p:cNvPr id="17" name="Oval 16"/>
          <p:cNvSpPr/>
          <p:nvPr/>
        </p:nvSpPr>
        <p:spPr>
          <a:xfrm>
            <a:off x="6355080" y="2514600"/>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50" b="1" i="0">
                <a:solidFill>
                  <a:srgbClr val="FFFFFF"/>
                </a:solidFill>
                <a:latin typeface="Calibri"/>
              </a:rPr>
              <a:t>2</a:t>
            </a:r>
          </a:p>
        </p:txBody>
      </p:sp>
      <p:sp>
        <p:nvSpPr>
          <p:cNvPr id="18" name="TextBox 17"/>
          <p:cNvSpPr txBox="1"/>
          <p:nvPr/>
        </p:nvSpPr>
        <p:spPr>
          <a:xfrm>
            <a:off x="6775704" y="2487168"/>
            <a:ext cx="5020056" cy="941832"/>
          </a:xfrm>
          <a:prstGeom prst="rect">
            <a:avLst/>
          </a:prstGeom>
          <a:noFill/>
        </p:spPr>
        <p:txBody>
          <a:bodyPr wrap="square" anchor="t" lIns="0" rIns="0" tIns="0" bIns="0">
            <a:spAutoFit/>
          </a:bodyPr>
          <a:lstStyle/>
          <a:p>
            <a:pPr algn="l">
              <a:spcAft>
                <a:spcPts val="100"/>
              </a:spcAft>
            </a:pPr>
            <a:r>
              <a:rPr sz="1300" b="1" i="0">
                <a:solidFill>
                  <a:srgbClr val="13233A"/>
                </a:solidFill>
                <a:latin typeface="Calibri"/>
              </a:rPr>
              <a:t>Register members with borrowing limits</a:t>
            </a:r>
          </a:p>
          <a:p>
            <a:pPr algn="l">
              <a:spcAft>
                <a:spcPts val="0"/>
              </a:spcAft>
            </a:pPr>
            <a:r>
              <a:rPr sz="1250" b="0" i="0">
                <a:solidFill>
                  <a:srgbClr val="111111"/>
                </a:solidFill>
                <a:latin typeface="Calibri"/>
              </a:rPr>
              <a:t>Each membership type carries its own limit, overridable per person.</a:t>
            </a:r>
          </a:p>
        </p:txBody>
      </p:sp>
      <p:sp>
        <p:nvSpPr>
          <p:cNvPr id="19" name="Oval 18"/>
          <p:cNvSpPr/>
          <p:nvPr/>
        </p:nvSpPr>
        <p:spPr>
          <a:xfrm>
            <a:off x="6355080" y="3456432"/>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50" b="1" i="0">
                <a:solidFill>
                  <a:srgbClr val="FFFFFF"/>
                </a:solidFill>
                <a:latin typeface="Calibri"/>
              </a:rPr>
              <a:t>3</a:t>
            </a:r>
          </a:p>
        </p:txBody>
      </p:sp>
      <p:sp>
        <p:nvSpPr>
          <p:cNvPr id="20" name="TextBox 19"/>
          <p:cNvSpPr txBox="1"/>
          <p:nvPr/>
        </p:nvSpPr>
        <p:spPr>
          <a:xfrm>
            <a:off x="6775704" y="3429000"/>
            <a:ext cx="5020056" cy="941832"/>
          </a:xfrm>
          <a:prstGeom prst="rect">
            <a:avLst/>
          </a:prstGeom>
          <a:noFill/>
        </p:spPr>
        <p:txBody>
          <a:bodyPr wrap="square" anchor="t" lIns="0" rIns="0" tIns="0" bIns="0">
            <a:spAutoFit/>
          </a:bodyPr>
          <a:lstStyle/>
          <a:p>
            <a:pPr algn="l">
              <a:spcAft>
                <a:spcPts val="100"/>
              </a:spcAft>
            </a:pPr>
            <a:r>
              <a:rPr sz="1300" b="1" i="0">
                <a:solidFill>
                  <a:srgbClr val="13233A"/>
                </a:solidFill>
                <a:latin typeface="Calibri"/>
              </a:rPr>
              <a:t>Issue, return and renew loans</a:t>
            </a:r>
          </a:p>
          <a:p>
            <a:pPr algn="l">
              <a:spcAft>
                <a:spcPts val="0"/>
              </a:spcAft>
            </a:pPr>
            <a:r>
              <a:rPr sz="1250" b="0" i="0">
                <a:solidFill>
                  <a:srgbClr val="111111"/>
                </a:solidFill>
                <a:latin typeface="Calibri"/>
              </a:rPr>
              <a:t>Due dates worked out automatically; renewals allowed within limits.</a:t>
            </a:r>
          </a:p>
        </p:txBody>
      </p:sp>
      <p:sp>
        <p:nvSpPr>
          <p:cNvPr id="21" name="Oval 20"/>
          <p:cNvSpPr/>
          <p:nvPr/>
        </p:nvSpPr>
        <p:spPr>
          <a:xfrm>
            <a:off x="6355080" y="4398264"/>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50" b="1" i="0">
                <a:solidFill>
                  <a:srgbClr val="FFFFFF"/>
                </a:solidFill>
                <a:latin typeface="Calibri"/>
              </a:rPr>
              <a:t>4</a:t>
            </a:r>
          </a:p>
        </p:txBody>
      </p:sp>
      <p:sp>
        <p:nvSpPr>
          <p:cNvPr id="22" name="TextBox 21"/>
          <p:cNvSpPr txBox="1"/>
          <p:nvPr/>
        </p:nvSpPr>
        <p:spPr>
          <a:xfrm>
            <a:off x="6775704" y="4370832"/>
            <a:ext cx="5020056" cy="941832"/>
          </a:xfrm>
          <a:prstGeom prst="rect">
            <a:avLst/>
          </a:prstGeom>
          <a:noFill/>
        </p:spPr>
        <p:txBody>
          <a:bodyPr wrap="square" anchor="t" lIns="0" rIns="0" tIns="0" bIns="0">
            <a:spAutoFit/>
          </a:bodyPr>
          <a:lstStyle/>
          <a:p>
            <a:pPr algn="l">
              <a:spcAft>
                <a:spcPts val="100"/>
              </a:spcAft>
            </a:pPr>
            <a:r>
              <a:rPr sz="1300" b="1" i="0">
                <a:solidFill>
                  <a:srgbClr val="13233A"/>
                </a:solidFill>
                <a:latin typeface="Calibri"/>
              </a:rPr>
              <a:t>Calculate and settle overdue fines</a:t>
            </a:r>
          </a:p>
          <a:p>
            <a:pPr algn="l">
              <a:spcAft>
                <a:spcPts val="0"/>
              </a:spcAft>
            </a:pPr>
            <a:r>
              <a:rPr sz="1250" b="0" i="0">
                <a:solidFill>
                  <a:srgbClr val="111111"/>
                </a:solidFill>
                <a:latin typeface="Calibri"/>
              </a:rPr>
              <a:t>Days late × the daily rate, charged or waived when the book comes back.</a:t>
            </a:r>
          </a:p>
        </p:txBody>
      </p:sp>
      <p:sp>
        <p:nvSpPr>
          <p:cNvPr id="23" name="Oval 22"/>
          <p:cNvSpPr/>
          <p:nvPr/>
        </p:nvSpPr>
        <p:spPr>
          <a:xfrm>
            <a:off x="6355080" y="5340096"/>
            <a:ext cx="274320" cy="27432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50" b="1" i="0">
                <a:solidFill>
                  <a:srgbClr val="FFFFFF"/>
                </a:solidFill>
                <a:latin typeface="Calibri"/>
              </a:rPr>
              <a:t>5</a:t>
            </a:r>
          </a:p>
        </p:txBody>
      </p:sp>
      <p:sp>
        <p:nvSpPr>
          <p:cNvPr id="24" name="TextBox 23"/>
          <p:cNvSpPr txBox="1"/>
          <p:nvPr/>
        </p:nvSpPr>
        <p:spPr>
          <a:xfrm>
            <a:off x="6775704" y="5312664"/>
            <a:ext cx="5020056" cy="941832"/>
          </a:xfrm>
          <a:prstGeom prst="rect">
            <a:avLst/>
          </a:prstGeom>
          <a:noFill/>
        </p:spPr>
        <p:txBody>
          <a:bodyPr wrap="square" anchor="t" lIns="0" rIns="0" tIns="0" bIns="0">
            <a:spAutoFit/>
          </a:bodyPr>
          <a:lstStyle/>
          <a:p>
            <a:pPr algn="l">
              <a:spcAft>
                <a:spcPts val="100"/>
              </a:spcAft>
            </a:pPr>
            <a:r>
              <a:rPr sz="1300" b="1" i="0">
                <a:solidFill>
                  <a:srgbClr val="13233A"/>
                </a:solidFill>
                <a:latin typeface="Calibri"/>
              </a:rPr>
              <a:t>Keep every rule in one place</a:t>
            </a:r>
          </a:p>
          <a:p>
            <a:pPr algn="l">
              <a:spcAft>
                <a:spcPts val="0"/>
              </a:spcAft>
            </a:pPr>
            <a:r>
              <a:rPr sz="1250" b="0" i="0">
                <a:solidFill>
                  <a:srgbClr val="111111"/>
                </a:solidFill>
                <a:latin typeface="Calibri"/>
              </a:rPr>
              <a:t>So that no screen, and no button, can bypass a rule by accident.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69264" cy="1097280"/>
          </a:xfrm>
          <a:prstGeom prst="rect">
            <a:avLst/>
          </a:prstGeom>
        </p:spPr>
      </p:pic>
      <p:sp>
        <p:nvSpPr>
          <p:cNvPr id="3" name="TextBox 2"/>
          <p:cNvSpPr txBox="1"/>
          <p:nvPr/>
        </p:nvSpPr>
        <p:spPr>
          <a:xfrm>
            <a:off x="1097280" y="109728"/>
            <a:ext cx="9994392" cy="777240"/>
          </a:xfrm>
          <a:prstGeom prst="rect">
            <a:avLst/>
          </a:prstGeom>
          <a:noFill/>
        </p:spPr>
        <p:txBody>
          <a:bodyPr wrap="square" anchor="ctr">
            <a:spAutoFit/>
          </a:bodyPr>
          <a:lstStyle/>
          <a:p>
            <a:pPr algn="ctr"/>
            <a:r>
              <a:rPr sz="3200">
                <a:solidFill>
                  <a:srgbClr val="111111"/>
                </a:solidFill>
                <a:latin typeface="Calibri"/>
              </a:rPr>
              <a:t>Technology Stack and Tools Used</a:t>
            </a:r>
          </a:p>
        </p:txBody>
      </p:sp>
      <p:sp>
        <p:nvSpPr>
          <p:cNvPr id="4" name="Rectangle 3"/>
          <p:cNvSpPr/>
          <p:nvPr/>
        </p:nvSpPr>
        <p:spPr>
          <a:xfrm>
            <a:off x="0" y="6510528"/>
            <a:ext cx="12188952" cy="347472"/>
          </a:xfrm>
          <a:prstGeom prst="rect">
            <a:avLst/>
          </a:prstGeom>
          <a:solidFill>
            <a:srgbClr val="43A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510528"/>
            <a:ext cx="10908792" cy="347472"/>
          </a:xfrm>
          <a:prstGeom prst="rect">
            <a:avLst/>
          </a:prstGeom>
          <a:noFill/>
        </p:spPr>
        <p:txBody>
          <a:bodyPr wrap="square" anchor="ctr">
            <a:spAutoFit/>
          </a:bodyPr>
          <a:lstStyle/>
          <a:p>
            <a:pPr algn="ctr"/>
            <a:r>
              <a:rPr sz="1300" b="1">
                <a:solidFill>
                  <a:srgbClr val="111111"/>
                </a:solidFill>
                <a:latin typeface="Calibri"/>
              </a:rPr>
              <a:t>Department of CSE-IOTCSBT, Vishwakarma Institute of Technology, Pune-37</a:t>
            </a:r>
          </a:p>
        </p:txBody>
      </p:sp>
      <p:sp>
        <p:nvSpPr>
          <p:cNvPr id="6" name="TextBox 5"/>
          <p:cNvSpPr txBox="1"/>
          <p:nvPr/>
        </p:nvSpPr>
        <p:spPr>
          <a:xfrm>
            <a:off x="11365992" y="6510528"/>
            <a:ext cx="640080" cy="347472"/>
          </a:xfrm>
          <a:prstGeom prst="rect">
            <a:avLst/>
          </a:prstGeom>
          <a:noFill/>
        </p:spPr>
        <p:txBody>
          <a:bodyPr wrap="none" anchor="ctr">
            <a:spAutoFit/>
          </a:bodyPr>
          <a:lstStyle/>
          <a:p>
            <a:pPr algn="r"/>
            <a:r>
              <a:rPr sz="1200" b="1">
                <a:solidFill>
                  <a:srgbClr val="111111"/>
                </a:solidFill>
                <a:latin typeface="Calibri"/>
              </a:rPr>
              <a:t>3</a:t>
            </a:r>
          </a:p>
        </p:txBody>
      </p:sp>
      <p:sp>
        <p:nvSpPr>
          <p:cNvPr id="7" name="Rounded Rectangle 6"/>
          <p:cNvSpPr/>
          <p:nvPr/>
        </p:nvSpPr>
        <p:spPr>
          <a:xfrm>
            <a:off x="411480" y="1143000"/>
            <a:ext cx="2761488" cy="868680"/>
          </a:xfrm>
          <a:prstGeom prst="roundRect">
            <a:avLst>
              <a:gd name="adj" fmla="val 12000"/>
            </a:avLst>
          </a:prstGeom>
          <a:solidFill>
            <a:srgbClr val="E8EF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51206"/>
          <a:lstStyle/>
          <a:p>
            <a:pPr algn="ctr">
              <a:spcAft>
                <a:spcPts val="200"/>
              </a:spcAft>
            </a:pPr>
            <a:r>
              <a:rPr sz="2600" b="1" i="0">
                <a:solidFill>
                  <a:srgbClr val="2563EB"/>
                </a:solidFill>
                <a:latin typeface="Calibri"/>
              </a:rPr>
              <a:t>Java 17+</a:t>
            </a:r>
          </a:p>
          <a:p>
            <a:pPr algn="ctr">
              <a:spcAft>
                <a:spcPts val="0"/>
              </a:spcAft>
            </a:pPr>
            <a:r>
              <a:rPr sz="1150" b="0" i="0">
                <a:solidFill>
                  <a:srgbClr val="13233A"/>
                </a:solidFill>
                <a:latin typeface="Calibri"/>
              </a:rPr>
              <a:t>language and runtime</a:t>
            </a:r>
          </a:p>
        </p:txBody>
      </p:sp>
      <p:sp>
        <p:nvSpPr>
          <p:cNvPr id="8" name="Rounded Rectangle 7"/>
          <p:cNvSpPr/>
          <p:nvPr/>
        </p:nvSpPr>
        <p:spPr>
          <a:xfrm>
            <a:off x="3310128" y="1143000"/>
            <a:ext cx="2761488" cy="868680"/>
          </a:xfrm>
          <a:prstGeom prst="roundRect">
            <a:avLst>
              <a:gd name="adj" fmla="val 12000"/>
            </a:avLst>
          </a:prstGeom>
          <a:solidFill>
            <a:srgbClr val="E8EF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51206"/>
          <a:lstStyle/>
          <a:p>
            <a:pPr algn="ctr">
              <a:spcAft>
                <a:spcPts val="200"/>
              </a:spcAft>
            </a:pPr>
            <a:r>
              <a:rPr sz="2600" b="1" i="0">
                <a:solidFill>
                  <a:srgbClr val="2563EB"/>
                </a:solidFill>
                <a:latin typeface="Calibri"/>
              </a:rPr>
              <a:t>1</a:t>
            </a:r>
          </a:p>
          <a:p>
            <a:pPr algn="ctr">
              <a:spcAft>
                <a:spcPts val="0"/>
              </a:spcAft>
            </a:pPr>
            <a:r>
              <a:rPr sz="1150" b="0" i="0">
                <a:solidFill>
                  <a:srgbClr val="13233A"/>
                </a:solidFill>
                <a:latin typeface="Calibri"/>
              </a:rPr>
              <a:t>external dependency</a:t>
            </a:r>
          </a:p>
        </p:txBody>
      </p:sp>
      <p:sp>
        <p:nvSpPr>
          <p:cNvPr id="9" name="Rounded Rectangle 8"/>
          <p:cNvSpPr/>
          <p:nvPr/>
        </p:nvSpPr>
        <p:spPr>
          <a:xfrm>
            <a:off x="6208776" y="1143000"/>
            <a:ext cx="2761488" cy="868680"/>
          </a:xfrm>
          <a:prstGeom prst="roundRect">
            <a:avLst>
              <a:gd name="adj" fmla="val 12000"/>
            </a:avLst>
          </a:prstGeom>
          <a:solidFill>
            <a:srgbClr val="E8EF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51206"/>
          <a:lstStyle/>
          <a:p>
            <a:pPr algn="ctr">
              <a:spcAft>
                <a:spcPts val="200"/>
              </a:spcAft>
            </a:pPr>
            <a:r>
              <a:rPr sz="2600" b="1" i="0">
                <a:solidFill>
                  <a:srgbClr val="2563EB"/>
                </a:solidFill>
                <a:latin typeface="Calibri"/>
              </a:rPr>
              <a:t>39</a:t>
            </a:r>
          </a:p>
          <a:p>
            <a:pPr algn="ctr">
              <a:spcAft>
                <a:spcPts val="0"/>
              </a:spcAft>
            </a:pPr>
            <a:r>
              <a:rPr sz="1150" b="0" i="0">
                <a:solidFill>
                  <a:srgbClr val="13233A"/>
                </a:solidFill>
                <a:latin typeface="Calibri"/>
              </a:rPr>
              <a:t>classes written</a:t>
            </a:r>
          </a:p>
        </p:txBody>
      </p:sp>
      <p:sp>
        <p:nvSpPr>
          <p:cNvPr id="10" name="Rounded Rectangle 9"/>
          <p:cNvSpPr/>
          <p:nvPr/>
        </p:nvSpPr>
        <p:spPr>
          <a:xfrm>
            <a:off x="9107424" y="1143000"/>
            <a:ext cx="2761488" cy="868680"/>
          </a:xfrm>
          <a:prstGeom prst="roundRect">
            <a:avLst>
              <a:gd name="adj" fmla="val 12000"/>
            </a:avLst>
          </a:prstGeom>
          <a:solidFill>
            <a:srgbClr val="E8EF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51206"/>
          <a:lstStyle/>
          <a:p>
            <a:pPr algn="ctr">
              <a:spcAft>
                <a:spcPts val="200"/>
              </a:spcAft>
            </a:pPr>
            <a:r>
              <a:rPr sz="2600" b="1" i="0">
                <a:solidFill>
                  <a:srgbClr val="2563EB"/>
                </a:solidFill>
                <a:latin typeface="Calibri"/>
              </a:rPr>
              <a:t>6,700+</a:t>
            </a:r>
          </a:p>
          <a:p>
            <a:pPr algn="ctr">
              <a:spcAft>
                <a:spcPts val="0"/>
              </a:spcAft>
            </a:pPr>
            <a:r>
              <a:rPr sz="1150" b="0" i="0">
                <a:solidFill>
                  <a:srgbClr val="13233A"/>
                </a:solidFill>
                <a:latin typeface="Calibri"/>
              </a:rPr>
              <a:t>lines of Java</a:t>
            </a:r>
          </a:p>
        </p:txBody>
      </p:sp>
      <p:sp>
        <p:nvSpPr>
          <p:cNvPr id="11" name="Rounded Rectangle 10"/>
          <p:cNvSpPr/>
          <p:nvPr/>
        </p:nvSpPr>
        <p:spPr>
          <a:xfrm>
            <a:off x="411480" y="2304288"/>
            <a:ext cx="3657600" cy="1536192"/>
          </a:xfrm>
          <a:prstGeom prst="roundRect">
            <a:avLst>
              <a:gd name="adj" fmla="val 7000"/>
            </a:avLst>
          </a:prstGeom>
          <a:solidFill>
            <a:srgbClr val="F4F7FC"/>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08813" bIns="108813"/>
          <a:lstStyle/>
          <a:p>
            <a:pPr algn="l">
              <a:spcAft>
                <a:spcPts val="100"/>
              </a:spcAft>
            </a:pPr>
            <a:r>
              <a:rPr sz="1450" b="1" i="0">
                <a:solidFill>
                  <a:srgbClr val="2563EB"/>
                </a:solidFill>
                <a:latin typeface="Calibri"/>
              </a:rPr>
              <a:t>Java 17</a:t>
            </a:r>
          </a:p>
          <a:p>
            <a:pPr algn="l">
              <a:spcAft>
                <a:spcPts val="600"/>
              </a:spcAft>
            </a:pPr>
            <a:r>
              <a:rPr sz="1000" b="1" i="0">
                <a:solidFill>
                  <a:srgbClr val="6B7280"/>
                </a:solidFill>
                <a:latin typeface="Calibri"/>
              </a:rPr>
              <a:t>LANGUAGE</a:t>
            </a:r>
          </a:p>
          <a:p>
            <a:pPr algn="l">
              <a:lnSpc>
                <a:spcPct val="105000"/>
              </a:lnSpc>
              <a:spcAft>
                <a:spcPts val="0"/>
              </a:spcAft>
            </a:pPr>
            <a:r>
              <a:rPr sz="1200" b="0" i="0">
                <a:solidFill>
                  <a:srgbClr val="111111"/>
                </a:solidFill>
                <a:latin typeface="Calibri"/>
              </a:rPr>
              <a:t>Records, enums and text blocks keep the model classes short. Runs on any machine with a JDK.</a:t>
            </a:r>
          </a:p>
        </p:txBody>
      </p:sp>
      <p:sp>
        <p:nvSpPr>
          <p:cNvPr id="12" name="Rounded Rectangle 11"/>
          <p:cNvSpPr/>
          <p:nvPr/>
        </p:nvSpPr>
        <p:spPr>
          <a:xfrm>
            <a:off x="4389120" y="2304288"/>
            <a:ext cx="3657600" cy="1536192"/>
          </a:xfrm>
          <a:prstGeom prst="roundRect">
            <a:avLst>
              <a:gd name="adj" fmla="val 7000"/>
            </a:avLst>
          </a:prstGeom>
          <a:solidFill>
            <a:srgbClr val="F4F7FC"/>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08813" bIns="108813"/>
          <a:lstStyle/>
          <a:p>
            <a:pPr algn="l">
              <a:spcAft>
                <a:spcPts val="100"/>
              </a:spcAft>
            </a:pPr>
            <a:r>
              <a:rPr sz="1450" b="1" i="0">
                <a:solidFill>
                  <a:srgbClr val="2563EB"/>
                </a:solidFill>
                <a:latin typeface="Calibri"/>
              </a:rPr>
              <a:t>Swing</a:t>
            </a:r>
          </a:p>
          <a:p>
            <a:pPr algn="l">
              <a:spcAft>
                <a:spcPts val="600"/>
              </a:spcAft>
            </a:pPr>
            <a:r>
              <a:rPr sz="1000" b="1" i="0">
                <a:solidFill>
                  <a:srgbClr val="6B7280"/>
                </a:solidFill>
                <a:latin typeface="Calibri"/>
              </a:rPr>
              <a:t>USER INTERFACE</a:t>
            </a:r>
          </a:p>
          <a:p>
            <a:pPr algn="l">
              <a:lnSpc>
                <a:spcPct val="105000"/>
              </a:lnSpc>
              <a:spcAft>
                <a:spcPts val="0"/>
              </a:spcAft>
            </a:pPr>
            <a:r>
              <a:rPr sz="1200" b="0" i="0">
                <a:solidFill>
                  <a:srgbClr val="111111"/>
                </a:solidFill>
                <a:latin typeface="Calibri"/>
              </a:rPr>
              <a:t>Built into the JDK, so the window needs no extra library and no installer.</a:t>
            </a:r>
          </a:p>
        </p:txBody>
      </p:sp>
      <p:sp>
        <p:nvSpPr>
          <p:cNvPr id="13" name="Rounded Rectangle 12"/>
          <p:cNvSpPr/>
          <p:nvPr/>
        </p:nvSpPr>
        <p:spPr>
          <a:xfrm>
            <a:off x="8366759" y="2304288"/>
            <a:ext cx="3657600" cy="1536192"/>
          </a:xfrm>
          <a:prstGeom prst="roundRect">
            <a:avLst>
              <a:gd name="adj" fmla="val 7000"/>
            </a:avLst>
          </a:prstGeom>
          <a:solidFill>
            <a:srgbClr val="F4F7FC"/>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08813" bIns="108813"/>
          <a:lstStyle/>
          <a:p>
            <a:pPr algn="l">
              <a:spcAft>
                <a:spcPts val="100"/>
              </a:spcAft>
            </a:pPr>
            <a:r>
              <a:rPr sz="1450" b="1" i="0">
                <a:solidFill>
                  <a:srgbClr val="2563EB"/>
                </a:solidFill>
                <a:latin typeface="Calibri"/>
              </a:rPr>
              <a:t>SQLite</a:t>
            </a:r>
          </a:p>
          <a:p>
            <a:pPr algn="l">
              <a:spcAft>
                <a:spcPts val="600"/>
              </a:spcAft>
            </a:pPr>
            <a:r>
              <a:rPr sz="1000" b="1" i="0">
                <a:solidFill>
                  <a:srgbClr val="6B7280"/>
                </a:solidFill>
                <a:latin typeface="Calibri"/>
              </a:rPr>
              <a:t>DATABASE</a:t>
            </a:r>
          </a:p>
          <a:p>
            <a:pPr algn="l">
              <a:lnSpc>
                <a:spcPct val="105000"/>
              </a:lnSpc>
              <a:spcAft>
                <a:spcPts val="0"/>
              </a:spcAft>
            </a:pPr>
            <a:r>
              <a:rPr sz="1200" b="0" i="0">
                <a:solidFill>
                  <a:srgbClr val="111111"/>
                </a:solidFill>
                <a:latin typeface="Calibri"/>
              </a:rPr>
              <a:t>The whole library is one file, library.db. No server, no configuration, no account.</a:t>
            </a:r>
          </a:p>
        </p:txBody>
      </p:sp>
      <p:sp>
        <p:nvSpPr>
          <p:cNvPr id="14" name="Rounded Rectangle 13"/>
          <p:cNvSpPr/>
          <p:nvPr/>
        </p:nvSpPr>
        <p:spPr>
          <a:xfrm>
            <a:off x="411480" y="4096512"/>
            <a:ext cx="3657600" cy="1536192"/>
          </a:xfrm>
          <a:prstGeom prst="roundRect">
            <a:avLst>
              <a:gd name="adj" fmla="val 7000"/>
            </a:avLst>
          </a:prstGeom>
          <a:solidFill>
            <a:srgbClr val="F4F7FC"/>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08813" bIns="108813"/>
          <a:lstStyle/>
          <a:p>
            <a:pPr algn="l">
              <a:spcAft>
                <a:spcPts val="100"/>
              </a:spcAft>
            </a:pPr>
            <a:r>
              <a:rPr sz="1450" b="1" i="0">
                <a:solidFill>
                  <a:srgbClr val="2563EB"/>
                </a:solidFill>
                <a:latin typeface="Calibri"/>
              </a:rPr>
              <a:t>JDBC + sqlite-jdbc 3.50.3.0</a:t>
            </a:r>
          </a:p>
          <a:p>
            <a:pPr algn="l">
              <a:spcAft>
                <a:spcPts val="600"/>
              </a:spcAft>
            </a:pPr>
            <a:r>
              <a:rPr sz="1000" b="1" i="0">
                <a:solidFill>
                  <a:srgbClr val="6B7280"/>
                </a:solidFill>
                <a:latin typeface="Calibri"/>
              </a:rPr>
              <a:t>DATABASE DRIVER</a:t>
            </a:r>
          </a:p>
          <a:p>
            <a:pPr algn="l">
              <a:lnSpc>
                <a:spcPct val="105000"/>
              </a:lnSpc>
              <a:spcAft>
                <a:spcPts val="0"/>
              </a:spcAft>
            </a:pPr>
            <a:r>
              <a:rPr sz="1200" b="0" i="0">
                <a:solidFill>
                  <a:srgbClr val="111111"/>
                </a:solidFill>
                <a:latin typeface="Calibri"/>
              </a:rPr>
              <a:t>The bridge from Java to SQLite — and the only external file in the project.</a:t>
            </a:r>
          </a:p>
        </p:txBody>
      </p:sp>
      <p:sp>
        <p:nvSpPr>
          <p:cNvPr id="15" name="Rounded Rectangle 14"/>
          <p:cNvSpPr/>
          <p:nvPr/>
        </p:nvSpPr>
        <p:spPr>
          <a:xfrm>
            <a:off x="4389120" y="4096512"/>
            <a:ext cx="3657600" cy="1536192"/>
          </a:xfrm>
          <a:prstGeom prst="roundRect">
            <a:avLst>
              <a:gd name="adj" fmla="val 7000"/>
            </a:avLst>
          </a:prstGeom>
          <a:solidFill>
            <a:srgbClr val="F4F7FC"/>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08813" bIns="108813"/>
          <a:lstStyle/>
          <a:p>
            <a:pPr algn="l">
              <a:spcAft>
                <a:spcPts val="100"/>
              </a:spcAft>
            </a:pPr>
            <a:r>
              <a:rPr sz="1450" b="1" i="0">
                <a:solidFill>
                  <a:srgbClr val="2563EB"/>
                </a:solidFill>
                <a:latin typeface="Calibri"/>
              </a:rPr>
              <a:t>Git and GitHub</a:t>
            </a:r>
          </a:p>
          <a:p>
            <a:pPr algn="l">
              <a:spcAft>
                <a:spcPts val="600"/>
              </a:spcAft>
            </a:pPr>
            <a:r>
              <a:rPr sz="1000" b="1" i="0">
                <a:solidFill>
                  <a:srgbClr val="6B7280"/>
                </a:solidFill>
                <a:latin typeface="Calibri"/>
              </a:rPr>
              <a:t>VERSION CONTROL</a:t>
            </a:r>
          </a:p>
          <a:p>
            <a:pPr algn="l">
              <a:lnSpc>
                <a:spcPct val="105000"/>
              </a:lnSpc>
              <a:spcAft>
                <a:spcPts val="0"/>
              </a:spcAft>
            </a:pPr>
            <a:r>
              <a:rPr sz="1200" b="0" i="0">
                <a:solidFill>
                  <a:srgbClr val="111111"/>
                </a:solidFill>
                <a:latin typeface="Calibri"/>
              </a:rPr>
              <a:t>Full history of the work, with the code and its documentation kept together.</a:t>
            </a:r>
          </a:p>
        </p:txBody>
      </p:sp>
      <p:sp>
        <p:nvSpPr>
          <p:cNvPr id="16" name="Rounded Rectangle 15"/>
          <p:cNvSpPr/>
          <p:nvPr/>
        </p:nvSpPr>
        <p:spPr>
          <a:xfrm>
            <a:off x="8366759" y="4096512"/>
            <a:ext cx="3657600" cy="1536192"/>
          </a:xfrm>
          <a:prstGeom prst="roundRect">
            <a:avLst>
              <a:gd name="adj" fmla="val 7000"/>
            </a:avLst>
          </a:prstGeom>
          <a:solidFill>
            <a:srgbClr val="F4F7FC"/>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08813" bIns="108813"/>
          <a:lstStyle/>
          <a:p>
            <a:pPr algn="l">
              <a:spcAft>
                <a:spcPts val="100"/>
              </a:spcAft>
            </a:pPr>
            <a:r>
              <a:rPr sz="1450" b="1" i="0">
                <a:solidFill>
                  <a:srgbClr val="2563EB"/>
                </a:solidFill>
                <a:latin typeface="Calibri"/>
              </a:rPr>
              <a:t>GitHub Actions</a:t>
            </a:r>
          </a:p>
          <a:p>
            <a:pPr algn="l">
              <a:spcAft>
                <a:spcPts val="600"/>
              </a:spcAft>
            </a:pPr>
            <a:r>
              <a:rPr sz="1000" b="1" i="0">
                <a:solidFill>
                  <a:srgbClr val="6B7280"/>
                </a:solidFill>
                <a:latin typeface="Calibri"/>
              </a:rPr>
              <a:t>CONTINUOUS INTEGRATION</a:t>
            </a:r>
          </a:p>
          <a:p>
            <a:pPr algn="l">
              <a:lnSpc>
                <a:spcPct val="105000"/>
              </a:lnSpc>
              <a:spcAft>
                <a:spcPts val="0"/>
              </a:spcAft>
            </a:pPr>
            <a:r>
              <a:rPr sz="1200" b="0" i="0">
                <a:solidFill>
                  <a:srgbClr val="111111"/>
                </a:solidFill>
                <a:latin typeface="Calibri"/>
              </a:rPr>
              <a:t>Builds and runs all 70 tests on every push — Windows and Linux.</a:t>
            </a:r>
          </a:p>
        </p:txBody>
      </p:sp>
      <p:sp>
        <p:nvSpPr>
          <p:cNvPr id="17" name="Rounded Rectangle 16"/>
          <p:cNvSpPr/>
          <p:nvPr/>
        </p:nvSpPr>
        <p:spPr>
          <a:xfrm>
            <a:off x="411480" y="5797296"/>
            <a:ext cx="11402568" cy="512064"/>
          </a:xfrm>
          <a:prstGeom prst="roundRect">
            <a:avLst>
              <a:gd name="adj" fmla="val 10000"/>
            </a:avLst>
          </a:prstGeom>
          <a:solidFill>
            <a:srgbClr val="E8EF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64007" bIns="64007"/>
          <a:lstStyle/>
          <a:p>
            <a:pPr algn="ctr">
              <a:spcAft>
                <a:spcPts val="0"/>
              </a:spcAft>
            </a:pPr>
            <a:r>
              <a:rPr sz="1200" b="1" i="0">
                <a:solidFill>
                  <a:srgbClr val="13233A"/>
                </a:solidFill>
                <a:latin typeface="Calibri"/>
              </a:rPr>
              <a:t>Chosen so the project runs anywhere: </a:t>
            </a:r>
            <a:r>
              <a:rPr sz="1200" b="0" i="0">
                <a:solidFill>
                  <a:srgbClr val="111111"/>
                </a:solidFill>
                <a:latin typeface="Calibri"/>
              </a:rPr>
              <a:t>download it, run one command, and the window opens — nothing to install and nothing to configure.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69264" cy="1097280"/>
          </a:xfrm>
          <a:prstGeom prst="rect">
            <a:avLst/>
          </a:prstGeom>
        </p:spPr>
      </p:pic>
      <p:sp>
        <p:nvSpPr>
          <p:cNvPr id="3" name="TextBox 2"/>
          <p:cNvSpPr txBox="1"/>
          <p:nvPr/>
        </p:nvSpPr>
        <p:spPr>
          <a:xfrm>
            <a:off x="1097280" y="109728"/>
            <a:ext cx="9994392" cy="777240"/>
          </a:xfrm>
          <a:prstGeom prst="rect">
            <a:avLst/>
          </a:prstGeom>
          <a:noFill/>
        </p:spPr>
        <p:txBody>
          <a:bodyPr wrap="square" anchor="ctr">
            <a:spAutoFit/>
          </a:bodyPr>
          <a:lstStyle/>
          <a:p>
            <a:pPr algn="ctr"/>
            <a:r>
              <a:rPr sz="3200">
                <a:solidFill>
                  <a:srgbClr val="111111"/>
                </a:solidFill>
                <a:latin typeface="Calibri"/>
              </a:rPr>
              <a:t>System Architecture</a:t>
            </a:r>
          </a:p>
        </p:txBody>
      </p:sp>
      <p:sp>
        <p:nvSpPr>
          <p:cNvPr id="4" name="Rectangle 3"/>
          <p:cNvSpPr/>
          <p:nvPr/>
        </p:nvSpPr>
        <p:spPr>
          <a:xfrm>
            <a:off x="0" y="6510528"/>
            <a:ext cx="12188952" cy="347472"/>
          </a:xfrm>
          <a:prstGeom prst="rect">
            <a:avLst/>
          </a:prstGeom>
          <a:solidFill>
            <a:srgbClr val="43A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510528"/>
            <a:ext cx="10908792" cy="347472"/>
          </a:xfrm>
          <a:prstGeom prst="rect">
            <a:avLst/>
          </a:prstGeom>
          <a:noFill/>
        </p:spPr>
        <p:txBody>
          <a:bodyPr wrap="square" anchor="ctr">
            <a:spAutoFit/>
          </a:bodyPr>
          <a:lstStyle/>
          <a:p>
            <a:pPr algn="ctr"/>
            <a:r>
              <a:rPr sz="1300" b="1">
                <a:solidFill>
                  <a:srgbClr val="111111"/>
                </a:solidFill>
                <a:latin typeface="Calibri"/>
              </a:rPr>
              <a:t>Department of CSE-IOTCSBT, Vishwakarma Institute of Technology, Pune-37</a:t>
            </a:r>
          </a:p>
        </p:txBody>
      </p:sp>
      <p:sp>
        <p:nvSpPr>
          <p:cNvPr id="6" name="TextBox 5"/>
          <p:cNvSpPr txBox="1"/>
          <p:nvPr/>
        </p:nvSpPr>
        <p:spPr>
          <a:xfrm>
            <a:off x="11365992" y="6510528"/>
            <a:ext cx="640080" cy="347472"/>
          </a:xfrm>
          <a:prstGeom prst="rect">
            <a:avLst/>
          </a:prstGeom>
          <a:noFill/>
        </p:spPr>
        <p:txBody>
          <a:bodyPr wrap="none" anchor="ctr">
            <a:spAutoFit/>
          </a:bodyPr>
          <a:lstStyle/>
          <a:p>
            <a:pPr algn="r"/>
            <a:r>
              <a:rPr sz="1200" b="1">
                <a:solidFill>
                  <a:srgbClr val="111111"/>
                </a:solidFill>
                <a:latin typeface="Calibri"/>
              </a:rPr>
              <a:t>4</a:t>
            </a:r>
          </a:p>
        </p:txBody>
      </p:sp>
      <p:sp>
        <p:nvSpPr>
          <p:cNvPr id="7" name="Rounded Rectangle 6"/>
          <p:cNvSpPr/>
          <p:nvPr/>
        </p:nvSpPr>
        <p:spPr>
          <a:xfrm>
            <a:off x="411480" y="1207008"/>
            <a:ext cx="6720840" cy="1572768"/>
          </a:xfrm>
          <a:prstGeom prst="roundRect">
            <a:avLst>
              <a:gd name="adj" fmla="val 6000"/>
            </a:avLst>
          </a:prstGeom>
          <a:solidFill>
            <a:srgbClr val="F4F7FC"/>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94360" y="1335024"/>
            <a:ext cx="6400800" cy="256032"/>
          </a:xfrm>
          <a:prstGeom prst="rect">
            <a:avLst/>
          </a:prstGeom>
          <a:noFill/>
        </p:spPr>
        <p:txBody>
          <a:bodyPr wrap="square" anchor="t" lIns="0" rIns="0" tIns="0" bIns="0">
            <a:spAutoFit/>
          </a:bodyPr>
          <a:lstStyle/>
          <a:p>
            <a:pPr algn="l">
              <a:spcAft>
                <a:spcPts val="0"/>
              </a:spcAft>
            </a:pPr>
            <a:r>
              <a:rPr sz="1100" b="1" i="0">
                <a:solidFill>
                  <a:srgbClr val="2563EB"/>
                </a:solidFill>
                <a:latin typeface="Calibri"/>
              </a:rPr>
              <a:t>INTERFACE LAYER</a:t>
            </a:r>
            <a:r>
              <a:rPr sz="1100" b="0" i="0">
                <a:solidFill>
                  <a:srgbClr val="6B7280"/>
                </a:solidFill>
                <a:latin typeface="Calibri"/>
              </a:rPr>
              <a:t>   src/main/java/com/library/ui</a:t>
            </a:r>
          </a:p>
        </p:txBody>
      </p:sp>
      <p:sp>
        <p:nvSpPr>
          <p:cNvPr id="9" name="Rounded Rectangle 8"/>
          <p:cNvSpPr/>
          <p:nvPr/>
        </p:nvSpPr>
        <p:spPr>
          <a:xfrm>
            <a:off x="594360" y="1645920"/>
            <a:ext cx="1216152" cy="475488"/>
          </a:xfrm>
          <a:prstGeom prst="roundRect">
            <a:avLst>
              <a:gd name="adj" fmla="val 12000"/>
            </a:avLst>
          </a:prstGeom>
          <a:solidFill>
            <a:srgbClr val="FFFFFF"/>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2801" bIns="12801"/>
          <a:lstStyle/>
          <a:p>
            <a:pPr algn="ctr">
              <a:spcAft>
                <a:spcPts val="0"/>
              </a:spcAft>
            </a:pPr>
            <a:r>
              <a:rPr sz="1150" b="1" i="0">
                <a:solidFill>
                  <a:srgbClr val="13233A"/>
                </a:solidFill>
                <a:latin typeface="Calibri"/>
              </a:rPr>
              <a:t>Dashboard</a:t>
            </a:r>
          </a:p>
        </p:txBody>
      </p:sp>
      <p:sp>
        <p:nvSpPr>
          <p:cNvPr id="10" name="Rounded Rectangle 9"/>
          <p:cNvSpPr/>
          <p:nvPr/>
        </p:nvSpPr>
        <p:spPr>
          <a:xfrm>
            <a:off x="1911096" y="1645920"/>
            <a:ext cx="1216152" cy="475488"/>
          </a:xfrm>
          <a:prstGeom prst="roundRect">
            <a:avLst>
              <a:gd name="adj" fmla="val 12000"/>
            </a:avLst>
          </a:prstGeom>
          <a:solidFill>
            <a:srgbClr val="FFFFFF"/>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2801" bIns="12801"/>
          <a:lstStyle/>
          <a:p>
            <a:pPr algn="ctr">
              <a:spcAft>
                <a:spcPts val="0"/>
              </a:spcAft>
            </a:pPr>
            <a:r>
              <a:rPr sz="1150" b="1" i="0">
                <a:solidFill>
                  <a:srgbClr val="13233A"/>
                </a:solidFill>
                <a:latin typeface="Calibri"/>
              </a:rPr>
              <a:t>Catalogue</a:t>
            </a:r>
          </a:p>
        </p:txBody>
      </p:sp>
      <p:sp>
        <p:nvSpPr>
          <p:cNvPr id="11" name="Rounded Rectangle 10"/>
          <p:cNvSpPr/>
          <p:nvPr/>
        </p:nvSpPr>
        <p:spPr>
          <a:xfrm>
            <a:off x="3227832" y="1645920"/>
            <a:ext cx="1216152" cy="475488"/>
          </a:xfrm>
          <a:prstGeom prst="roundRect">
            <a:avLst>
              <a:gd name="adj" fmla="val 12000"/>
            </a:avLst>
          </a:prstGeom>
          <a:solidFill>
            <a:srgbClr val="FFFFFF"/>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2801" bIns="12801"/>
          <a:lstStyle/>
          <a:p>
            <a:pPr algn="ctr">
              <a:spcAft>
                <a:spcPts val="0"/>
              </a:spcAft>
            </a:pPr>
            <a:r>
              <a:rPr sz="1150" b="1" i="0">
                <a:solidFill>
                  <a:srgbClr val="13233A"/>
                </a:solidFill>
                <a:latin typeface="Calibri"/>
              </a:rPr>
              <a:t>Members</a:t>
            </a:r>
          </a:p>
        </p:txBody>
      </p:sp>
      <p:sp>
        <p:nvSpPr>
          <p:cNvPr id="12" name="Rounded Rectangle 11"/>
          <p:cNvSpPr/>
          <p:nvPr/>
        </p:nvSpPr>
        <p:spPr>
          <a:xfrm>
            <a:off x="4544568" y="1645920"/>
            <a:ext cx="1216152" cy="475488"/>
          </a:xfrm>
          <a:prstGeom prst="roundRect">
            <a:avLst>
              <a:gd name="adj" fmla="val 12000"/>
            </a:avLst>
          </a:prstGeom>
          <a:solidFill>
            <a:srgbClr val="FFFFFF"/>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2801" bIns="12801"/>
          <a:lstStyle/>
          <a:p>
            <a:pPr algn="ctr">
              <a:spcAft>
                <a:spcPts val="0"/>
              </a:spcAft>
            </a:pPr>
            <a:r>
              <a:rPr sz="1150" b="1" i="0">
                <a:solidFill>
                  <a:srgbClr val="13233A"/>
                </a:solidFill>
                <a:latin typeface="Calibri"/>
              </a:rPr>
              <a:t>Circulation</a:t>
            </a:r>
          </a:p>
        </p:txBody>
      </p:sp>
      <p:sp>
        <p:nvSpPr>
          <p:cNvPr id="13" name="Rounded Rectangle 12"/>
          <p:cNvSpPr/>
          <p:nvPr/>
        </p:nvSpPr>
        <p:spPr>
          <a:xfrm>
            <a:off x="5861304" y="1645920"/>
            <a:ext cx="1216152" cy="475488"/>
          </a:xfrm>
          <a:prstGeom prst="roundRect">
            <a:avLst>
              <a:gd name="adj" fmla="val 12000"/>
            </a:avLst>
          </a:prstGeom>
          <a:solidFill>
            <a:srgbClr val="FFFFFF"/>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2801" bIns="12801"/>
          <a:lstStyle/>
          <a:p>
            <a:pPr algn="ctr">
              <a:spcAft>
                <a:spcPts val="0"/>
              </a:spcAft>
            </a:pPr>
            <a:r>
              <a:rPr sz="1150" b="1" i="0">
                <a:solidFill>
                  <a:srgbClr val="13233A"/>
                </a:solidFill>
                <a:latin typeface="Calibri"/>
              </a:rPr>
              <a:t>Settings</a:t>
            </a:r>
          </a:p>
        </p:txBody>
      </p:sp>
      <p:sp>
        <p:nvSpPr>
          <p:cNvPr id="14" name="TextBox 13"/>
          <p:cNvSpPr txBox="1"/>
          <p:nvPr/>
        </p:nvSpPr>
        <p:spPr>
          <a:xfrm>
            <a:off x="594360" y="2231136"/>
            <a:ext cx="6400800" cy="411480"/>
          </a:xfrm>
          <a:prstGeom prst="rect">
            <a:avLst/>
          </a:prstGeom>
          <a:noFill/>
        </p:spPr>
        <p:txBody>
          <a:bodyPr wrap="square" anchor="t" lIns="0" rIns="0" tIns="0" bIns="0">
            <a:spAutoFit/>
          </a:bodyPr>
          <a:lstStyle/>
          <a:p>
            <a:pPr algn="l">
              <a:lnSpc>
                <a:spcPct val="100000"/>
              </a:lnSpc>
              <a:spcAft>
                <a:spcPts val="0"/>
              </a:spcAft>
            </a:pPr>
            <a:r>
              <a:rPr sz="1150" b="0" i="0">
                <a:solidFill>
                  <a:srgbClr val="6B7280"/>
                </a:solidFill>
                <a:latin typeface="Calibri"/>
              </a:rPr>
              <a:t>Each tab draws a screen and passes on what you typed. It never decides whether something is allowed.</a:t>
            </a:r>
          </a:p>
        </p:txBody>
      </p:sp>
      <p:cxnSp>
        <p:nvCxnSpPr>
          <p:cNvPr id="15" name="Connector 14"/>
          <p:cNvCxnSpPr/>
          <p:nvPr/>
        </p:nvCxnSpPr>
        <p:spPr>
          <a:xfrm>
            <a:off x="2743200" y="2779776"/>
            <a:ext cx="0" cy="438912"/>
          </a:xfrm>
          <a:prstGeom prst="line">
            <a:avLst/>
          </a:prstGeom>
          <a:ln w="22225">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852928" y="2834640"/>
            <a:ext cx="2011680" cy="292608"/>
          </a:xfrm>
          <a:prstGeom prst="rect">
            <a:avLst/>
          </a:prstGeom>
          <a:noFill/>
        </p:spPr>
        <p:txBody>
          <a:bodyPr wrap="square" anchor="t" lIns="0" rIns="0" tIns="0" bIns="0">
            <a:spAutoFit/>
          </a:bodyPr>
          <a:lstStyle/>
          <a:p>
            <a:pPr algn="l">
              <a:spcAft>
                <a:spcPts val="0"/>
              </a:spcAft>
            </a:pPr>
            <a:r>
              <a:rPr sz="1100" b="1" i="0">
                <a:solidFill>
                  <a:srgbClr val="2563EB"/>
                </a:solidFill>
                <a:latin typeface="Calibri"/>
              </a:rPr>
              <a:t>asks</a:t>
            </a:r>
          </a:p>
        </p:txBody>
      </p:sp>
      <p:cxnSp>
        <p:nvCxnSpPr>
          <p:cNvPr id="17" name="Connector 16"/>
          <p:cNvCxnSpPr/>
          <p:nvPr/>
        </p:nvCxnSpPr>
        <p:spPr>
          <a:xfrm flipV="1">
            <a:off x="4846320" y="2779776"/>
            <a:ext cx="0" cy="438912"/>
          </a:xfrm>
          <a:prstGeom prst="line">
            <a:avLst/>
          </a:prstGeom>
          <a:ln w="22225">
            <a:solidFill>
              <a:srgbClr val="0478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956048" y="2834640"/>
            <a:ext cx="2286000" cy="292608"/>
          </a:xfrm>
          <a:prstGeom prst="rect">
            <a:avLst/>
          </a:prstGeom>
          <a:noFill/>
        </p:spPr>
        <p:txBody>
          <a:bodyPr wrap="square" anchor="t" lIns="0" rIns="0" tIns="0" bIns="0">
            <a:spAutoFit/>
          </a:bodyPr>
          <a:lstStyle/>
          <a:p>
            <a:pPr algn="l">
              <a:spcAft>
                <a:spcPts val="0"/>
              </a:spcAft>
            </a:pPr>
            <a:r>
              <a:rPr sz="1100" b="1" i="0">
                <a:solidFill>
                  <a:srgbClr val="047857"/>
                </a:solidFill>
                <a:latin typeface="Calibri"/>
              </a:rPr>
              <a:t>answers, or refuses with a reason</a:t>
            </a:r>
          </a:p>
        </p:txBody>
      </p:sp>
      <p:sp>
        <p:nvSpPr>
          <p:cNvPr id="19" name="Rounded Rectangle 18"/>
          <p:cNvSpPr/>
          <p:nvPr/>
        </p:nvSpPr>
        <p:spPr>
          <a:xfrm>
            <a:off x="411480" y="3218688"/>
            <a:ext cx="6720840" cy="1335024"/>
          </a:xfrm>
          <a:prstGeom prst="roundRect">
            <a:avLst>
              <a:gd name="adj" fmla="val 6000"/>
            </a:avLst>
          </a:prstGeom>
          <a:solidFill>
            <a:srgbClr val="E8EFFB"/>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spcAft>
                <a:spcPts val="500"/>
              </a:spcAft>
            </a:pPr>
            <a:r>
              <a:rPr sz="1100" b="1" i="0">
                <a:solidFill>
                  <a:srgbClr val="2563EB"/>
                </a:solidFill>
                <a:latin typeface="Calibri"/>
              </a:rPr>
              <a:t>DATA LAYER</a:t>
            </a:r>
            <a:r>
              <a:rPr sz="1100" b="0" i="0">
                <a:solidFill>
                  <a:srgbClr val="6B7280"/>
                </a:solidFill>
                <a:latin typeface="Calibri"/>
              </a:rPr>
              <a:t>   db/LibraryDatabase.java</a:t>
            </a:r>
          </a:p>
          <a:p>
            <a:pPr algn="l">
              <a:spcAft>
                <a:spcPts val="300"/>
              </a:spcAft>
            </a:pPr>
            <a:r>
              <a:rPr sz="1600" b="1" i="0">
                <a:solidFill>
                  <a:srgbClr val="13233A"/>
                </a:solidFill>
                <a:latin typeface="Calibri"/>
              </a:rPr>
              <a:t>Owns every rule</a:t>
            </a:r>
          </a:p>
          <a:p>
            <a:pPr algn="l">
              <a:lnSpc>
                <a:spcPct val="100000"/>
              </a:lnSpc>
              <a:spcAft>
                <a:spcPts val="0"/>
              </a:spcAft>
            </a:pPr>
            <a:r>
              <a:rPr sz="1200" b="0" i="0">
                <a:solidFill>
                  <a:srgbClr val="111111"/>
                </a:solidFill>
                <a:latin typeface="Calibri"/>
              </a:rPr>
              <a:t>Copy counts · borrowing limits · renewals · fines. Each change runs inside one transaction.</a:t>
            </a:r>
          </a:p>
        </p:txBody>
      </p:sp>
      <p:cxnSp>
        <p:nvCxnSpPr>
          <p:cNvPr id="20" name="Connector 19"/>
          <p:cNvCxnSpPr/>
          <p:nvPr/>
        </p:nvCxnSpPr>
        <p:spPr>
          <a:xfrm>
            <a:off x="3749039" y="4553712"/>
            <a:ext cx="0" cy="438912"/>
          </a:xfrm>
          <a:prstGeom prst="line">
            <a:avLst/>
          </a:prstGeom>
          <a:ln w="2222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858768" y="4608576"/>
            <a:ext cx="2286000" cy="292608"/>
          </a:xfrm>
          <a:prstGeom prst="rect">
            <a:avLst/>
          </a:prstGeom>
          <a:noFill/>
        </p:spPr>
        <p:txBody>
          <a:bodyPr wrap="square" anchor="t" lIns="0" rIns="0" tIns="0" bIns="0">
            <a:spAutoFit/>
          </a:bodyPr>
          <a:lstStyle/>
          <a:p>
            <a:pPr algn="l">
              <a:spcAft>
                <a:spcPts val="0"/>
              </a:spcAft>
            </a:pPr>
            <a:r>
              <a:rPr sz="1100" b="1" i="0">
                <a:solidFill>
                  <a:srgbClr val="6B7280"/>
                </a:solidFill>
                <a:latin typeface="Calibri"/>
              </a:rPr>
              <a:t>SQL over JDBC</a:t>
            </a:r>
          </a:p>
        </p:txBody>
      </p:sp>
      <p:sp>
        <p:nvSpPr>
          <p:cNvPr id="22" name="Rounded Rectangle 21"/>
          <p:cNvSpPr/>
          <p:nvPr/>
        </p:nvSpPr>
        <p:spPr>
          <a:xfrm>
            <a:off x="411480" y="4992624"/>
            <a:ext cx="6720840" cy="1188720"/>
          </a:xfrm>
          <a:prstGeom prst="roundRect">
            <a:avLst>
              <a:gd name="adj" fmla="val 6000"/>
            </a:avLst>
          </a:prstGeom>
          <a:solidFill>
            <a:srgbClr val="FFFFFF"/>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spcAft>
                <a:spcPts val="400"/>
              </a:spcAft>
            </a:pPr>
            <a:r>
              <a:rPr sz="1500" b="1" i="0">
                <a:solidFill>
                  <a:srgbClr val="13233A"/>
                </a:solidFill>
                <a:latin typeface="Calibri"/>
              </a:rPr>
              <a:t>library.db  —  one SQLite file</a:t>
            </a:r>
          </a:p>
          <a:p>
            <a:pPr algn="l">
              <a:spcAft>
                <a:spcPts val="300"/>
              </a:spcAft>
            </a:pPr>
            <a:r>
              <a:rPr sz="1250" b="0" i="0">
                <a:solidFill>
                  <a:srgbClr val="111111"/>
                </a:solidFill>
                <a:latin typeface="Calibri"/>
              </a:rPr>
              <a:t>books  ·  members  ·  loans  ·  settings</a:t>
            </a:r>
          </a:p>
          <a:p>
            <a:pPr algn="l">
              <a:spcAft>
                <a:spcPts val="0"/>
              </a:spcAft>
            </a:pPr>
            <a:r>
              <a:rPr sz="1150" b="0" i="1">
                <a:solidFill>
                  <a:srgbClr val="6B7280"/>
                </a:solidFill>
                <a:latin typeface="Calibri"/>
              </a:rPr>
              <a:t>Copy this one file and the whole library moves with it.</a:t>
            </a:r>
          </a:p>
        </p:txBody>
      </p:sp>
      <p:sp>
        <p:nvSpPr>
          <p:cNvPr id="23" name="TextBox 22"/>
          <p:cNvSpPr txBox="1"/>
          <p:nvPr/>
        </p:nvSpPr>
        <p:spPr>
          <a:xfrm>
            <a:off x="7498079" y="1207008"/>
            <a:ext cx="4315968" cy="274320"/>
          </a:xfrm>
          <a:prstGeom prst="rect">
            <a:avLst/>
          </a:prstGeom>
          <a:noFill/>
        </p:spPr>
        <p:txBody>
          <a:bodyPr wrap="square" anchor="t" lIns="0" rIns="0" tIns="0" bIns="0">
            <a:spAutoFit/>
          </a:bodyPr>
          <a:lstStyle/>
          <a:p>
            <a:pPr algn="l">
              <a:spcAft>
                <a:spcPts val="0"/>
              </a:spcAft>
            </a:pPr>
            <a:r>
              <a:rPr sz="1500" b="1" i="0">
                <a:solidFill>
                  <a:srgbClr val="13233A"/>
                </a:solidFill>
                <a:latin typeface="Calibri"/>
              </a:rPr>
              <a:t>Why it is split this way</a:t>
            </a:r>
          </a:p>
        </p:txBody>
      </p:sp>
      <p:sp>
        <p:nvSpPr>
          <p:cNvPr id="24" name="Oval 23"/>
          <p:cNvSpPr/>
          <p:nvPr/>
        </p:nvSpPr>
        <p:spPr>
          <a:xfrm>
            <a:off x="7498079" y="1677924"/>
            <a:ext cx="137160" cy="13716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63256" y="1609344"/>
            <a:ext cx="4050791" cy="749808"/>
          </a:xfrm>
          <a:prstGeom prst="rect">
            <a:avLst/>
          </a:prstGeom>
          <a:noFill/>
        </p:spPr>
        <p:txBody>
          <a:bodyPr wrap="square" anchor="t" lIns="0" rIns="0" tIns="0" bIns="0">
            <a:spAutoFit/>
          </a:bodyPr>
          <a:lstStyle/>
          <a:p>
            <a:pPr algn="l">
              <a:spcAft>
                <a:spcPts val="0"/>
              </a:spcAft>
            </a:pPr>
            <a:r>
              <a:rPr sz="1250" b="0" i="0">
                <a:solidFill>
                  <a:srgbClr val="111111"/>
                </a:solidFill>
                <a:latin typeface="Calibri"/>
              </a:rPr>
              <a:t>The interface only draws screens. Every decision about what is allowed is taken in one class.</a:t>
            </a:r>
          </a:p>
        </p:txBody>
      </p:sp>
      <p:sp>
        <p:nvSpPr>
          <p:cNvPr id="26" name="Oval 25"/>
          <p:cNvSpPr/>
          <p:nvPr/>
        </p:nvSpPr>
        <p:spPr>
          <a:xfrm>
            <a:off x="7498079" y="2427732"/>
            <a:ext cx="137160" cy="13716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63256" y="2359152"/>
            <a:ext cx="4050791" cy="749808"/>
          </a:xfrm>
          <a:prstGeom prst="rect">
            <a:avLst/>
          </a:prstGeom>
          <a:noFill/>
        </p:spPr>
        <p:txBody>
          <a:bodyPr wrap="square" anchor="t" lIns="0" rIns="0" tIns="0" bIns="0">
            <a:spAutoFit/>
          </a:bodyPr>
          <a:lstStyle/>
          <a:p>
            <a:pPr algn="l">
              <a:spcAft>
                <a:spcPts val="0"/>
              </a:spcAft>
            </a:pPr>
            <a:r>
              <a:rPr sz="1250" b="0" i="0">
                <a:solidFill>
                  <a:srgbClr val="111111"/>
                </a:solidFill>
                <a:latin typeface="Calibri"/>
              </a:rPr>
              <a:t>A rule cannot be skipped from a button, because no button is able to write to the database itself.</a:t>
            </a:r>
          </a:p>
        </p:txBody>
      </p:sp>
      <p:sp>
        <p:nvSpPr>
          <p:cNvPr id="28" name="Oval 27"/>
          <p:cNvSpPr/>
          <p:nvPr/>
        </p:nvSpPr>
        <p:spPr>
          <a:xfrm>
            <a:off x="7498079" y="3177540"/>
            <a:ext cx="137160" cy="13716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63256" y="3108960"/>
            <a:ext cx="4050791" cy="749808"/>
          </a:xfrm>
          <a:prstGeom prst="rect">
            <a:avLst/>
          </a:prstGeom>
          <a:noFill/>
        </p:spPr>
        <p:txBody>
          <a:bodyPr wrap="square" anchor="t" lIns="0" rIns="0" tIns="0" bIns="0">
            <a:spAutoFit/>
          </a:bodyPr>
          <a:lstStyle/>
          <a:p>
            <a:pPr algn="l">
              <a:spcAft>
                <a:spcPts val="0"/>
              </a:spcAft>
            </a:pPr>
            <a:r>
              <a:rPr sz="1250" b="0" i="0">
                <a:solidFill>
                  <a:srgbClr val="111111"/>
                </a:solidFill>
                <a:latin typeface="Calibri"/>
              </a:rPr>
              <a:t>The rules can be tested without opening a window — 47 of the 70 tests run with no screen at all.</a:t>
            </a:r>
          </a:p>
        </p:txBody>
      </p:sp>
      <p:sp>
        <p:nvSpPr>
          <p:cNvPr id="30" name="Oval 29"/>
          <p:cNvSpPr/>
          <p:nvPr/>
        </p:nvSpPr>
        <p:spPr>
          <a:xfrm>
            <a:off x="7498079" y="3927348"/>
            <a:ext cx="137160" cy="13716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63256" y="3858768"/>
            <a:ext cx="4050791" cy="749808"/>
          </a:xfrm>
          <a:prstGeom prst="rect">
            <a:avLst/>
          </a:prstGeom>
          <a:noFill/>
        </p:spPr>
        <p:txBody>
          <a:bodyPr wrap="square" anchor="t" lIns="0" rIns="0" tIns="0" bIns="0">
            <a:spAutoFit/>
          </a:bodyPr>
          <a:lstStyle/>
          <a:p>
            <a:pPr algn="l">
              <a:spcAft>
                <a:spcPts val="0"/>
              </a:spcAft>
            </a:pPr>
            <a:r>
              <a:rPr sz="1250" b="0" i="0">
                <a:solidFill>
                  <a:srgbClr val="111111"/>
                </a:solidFill>
                <a:latin typeface="Calibri"/>
              </a:rPr>
              <a:t>A new screen cannot invent a new rule; it can only ask for one that already exists.</a:t>
            </a:r>
          </a:p>
        </p:txBody>
      </p:sp>
      <p:sp>
        <p:nvSpPr>
          <p:cNvPr id="32" name="Oval 31"/>
          <p:cNvSpPr/>
          <p:nvPr/>
        </p:nvSpPr>
        <p:spPr>
          <a:xfrm>
            <a:off x="7498079" y="4677156"/>
            <a:ext cx="137160" cy="13716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63256" y="4608576"/>
            <a:ext cx="4050791" cy="749808"/>
          </a:xfrm>
          <a:prstGeom prst="rect">
            <a:avLst/>
          </a:prstGeom>
          <a:noFill/>
        </p:spPr>
        <p:txBody>
          <a:bodyPr wrap="square" anchor="t" lIns="0" rIns="0" tIns="0" bIns="0">
            <a:spAutoFit/>
          </a:bodyPr>
          <a:lstStyle/>
          <a:p>
            <a:pPr algn="l">
              <a:spcAft>
                <a:spcPts val="0"/>
              </a:spcAft>
            </a:pPr>
            <a:r>
              <a:rPr sz="1250" b="0" i="0">
                <a:solidFill>
                  <a:srgbClr val="111111"/>
                </a:solidFill>
                <a:latin typeface="Calibri"/>
              </a:rPr>
              <a:t>Swapping SQLite for another database would touch one class, not fifteen.</a:t>
            </a:r>
          </a:p>
        </p:txBody>
      </p:sp>
      <p:sp>
        <p:nvSpPr>
          <p:cNvPr id="34" name="Rounded Rectangle 33"/>
          <p:cNvSpPr/>
          <p:nvPr/>
        </p:nvSpPr>
        <p:spPr>
          <a:xfrm>
            <a:off x="7498079" y="5724144"/>
            <a:ext cx="4315968" cy="475488"/>
          </a:xfrm>
          <a:prstGeom prst="roundRect">
            <a:avLst>
              <a:gd name="adj" fmla="val 12000"/>
            </a:avLst>
          </a:prstGeom>
          <a:solidFill>
            <a:srgbClr val="E8EF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64007" bIns="64007"/>
          <a:lstStyle/>
          <a:p>
            <a:pPr algn="ctr">
              <a:spcAft>
                <a:spcPts val="0"/>
              </a:spcAft>
            </a:pPr>
            <a:r>
              <a:rPr sz="1200" b="1" i="0">
                <a:solidFill>
                  <a:srgbClr val="13233A"/>
                </a:solidFill>
                <a:latin typeface="Calibri"/>
              </a:rPr>
              <a:t>This separation is the main design idea of the project.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69264" cy="1097280"/>
          </a:xfrm>
          <a:prstGeom prst="rect">
            <a:avLst/>
          </a:prstGeom>
        </p:spPr>
      </p:pic>
      <p:sp>
        <p:nvSpPr>
          <p:cNvPr id="3" name="TextBox 2"/>
          <p:cNvSpPr txBox="1"/>
          <p:nvPr/>
        </p:nvSpPr>
        <p:spPr>
          <a:xfrm>
            <a:off x="1097280" y="109728"/>
            <a:ext cx="9994392" cy="777240"/>
          </a:xfrm>
          <a:prstGeom prst="rect">
            <a:avLst/>
          </a:prstGeom>
          <a:noFill/>
        </p:spPr>
        <p:txBody>
          <a:bodyPr wrap="square" anchor="ctr">
            <a:spAutoFit/>
          </a:bodyPr>
          <a:lstStyle/>
          <a:p>
            <a:pPr algn="ctr"/>
            <a:r>
              <a:rPr sz="3200">
                <a:solidFill>
                  <a:srgbClr val="111111"/>
                </a:solidFill>
                <a:latin typeface="Calibri"/>
              </a:rPr>
              <a:t>OOP Concepts Applied</a:t>
            </a:r>
          </a:p>
        </p:txBody>
      </p:sp>
      <p:sp>
        <p:nvSpPr>
          <p:cNvPr id="4" name="Rectangle 3"/>
          <p:cNvSpPr/>
          <p:nvPr/>
        </p:nvSpPr>
        <p:spPr>
          <a:xfrm>
            <a:off x="0" y="6510528"/>
            <a:ext cx="12188952" cy="347472"/>
          </a:xfrm>
          <a:prstGeom prst="rect">
            <a:avLst/>
          </a:prstGeom>
          <a:solidFill>
            <a:srgbClr val="43A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510528"/>
            <a:ext cx="10908792" cy="347472"/>
          </a:xfrm>
          <a:prstGeom prst="rect">
            <a:avLst/>
          </a:prstGeom>
          <a:noFill/>
        </p:spPr>
        <p:txBody>
          <a:bodyPr wrap="square" anchor="ctr">
            <a:spAutoFit/>
          </a:bodyPr>
          <a:lstStyle/>
          <a:p>
            <a:pPr algn="ctr"/>
            <a:r>
              <a:rPr sz="1300" b="1">
                <a:solidFill>
                  <a:srgbClr val="111111"/>
                </a:solidFill>
                <a:latin typeface="Calibri"/>
              </a:rPr>
              <a:t>Department of CSE-IOTCSBT, Vishwakarma Institute of Technology, Pune-37</a:t>
            </a:r>
          </a:p>
        </p:txBody>
      </p:sp>
      <p:sp>
        <p:nvSpPr>
          <p:cNvPr id="6" name="TextBox 5"/>
          <p:cNvSpPr txBox="1"/>
          <p:nvPr/>
        </p:nvSpPr>
        <p:spPr>
          <a:xfrm>
            <a:off x="11365992" y="6510528"/>
            <a:ext cx="640080" cy="347472"/>
          </a:xfrm>
          <a:prstGeom prst="rect">
            <a:avLst/>
          </a:prstGeom>
          <a:noFill/>
        </p:spPr>
        <p:txBody>
          <a:bodyPr wrap="none" anchor="ctr">
            <a:spAutoFit/>
          </a:bodyPr>
          <a:lstStyle/>
          <a:p>
            <a:pPr algn="r"/>
            <a:r>
              <a:rPr sz="1200" b="1">
                <a:solidFill>
                  <a:srgbClr val="111111"/>
                </a:solidFill>
                <a:latin typeface="Calibri"/>
              </a:rPr>
              <a:t>5</a:t>
            </a:r>
          </a:p>
        </p:txBody>
      </p:sp>
      <p:sp>
        <p:nvSpPr>
          <p:cNvPr id="7" name="TextBox 6"/>
          <p:cNvSpPr txBox="1"/>
          <p:nvPr/>
        </p:nvSpPr>
        <p:spPr>
          <a:xfrm>
            <a:off x="411480" y="1115568"/>
            <a:ext cx="11384280" cy="274320"/>
          </a:xfrm>
          <a:prstGeom prst="rect">
            <a:avLst/>
          </a:prstGeom>
          <a:noFill/>
        </p:spPr>
        <p:txBody>
          <a:bodyPr wrap="square" anchor="t" lIns="0" rIns="0" tIns="0" bIns="0">
            <a:spAutoFit/>
          </a:bodyPr>
          <a:lstStyle/>
          <a:p>
            <a:pPr algn="ctr">
              <a:spcAft>
                <a:spcPts val="0"/>
              </a:spcAft>
            </a:pPr>
            <a:r>
              <a:rPr sz="1250" b="0" i="1">
                <a:solidFill>
                  <a:srgbClr val="6B7280"/>
                </a:solidFill>
                <a:latin typeface="Calibri"/>
              </a:rPr>
              <a:t>Each concept is shown by the class in this project that actually uses it — not by a textbook example.</a:t>
            </a:r>
          </a:p>
        </p:txBody>
      </p:sp>
      <p:sp>
        <p:nvSpPr>
          <p:cNvPr id="8" name="Rounded Rectangle 7"/>
          <p:cNvSpPr/>
          <p:nvPr/>
        </p:nvSpPr>
        <p:spPr>
          <a:xfrm>
            <a:off x="411480" y="1554480"/>
            <a:ext cx="3657600" cy="2130552"/>
          </a:xfrm>
          <a:prstGeom prst="roundRect">
            <a:avLst>
              <a:gd name="adj" fmla="val 7000"/>
            </a:avLst>
          </a:prstGeom>
          <a:solidFill>
            <a:srgbClr val="F4F7FC"/>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08813" bIns="108813"/>
          <a:lstStyle/>
          <a:p>
            <a:pPr algn="l">
              <a:spcAft>
                <a:spcPts val="200"/>
              </a:spcAft>
            </a:pPr>
            <a:r>
              <a:rPr sz="1500" b="1" i="0">
                <a:solidFill>
                  <a:srgbClr val="2563EB"/>
                </a:solidFill>
                <a:latin typeface="Calibri"/>
              </a:rPr>
              <a:t>Encapsulation</a:t>
            </a:r>
          </a:p>
          <a:p>
            <a:pPr algn="l">
              <a:spcAft>
                <a:spcPts val="700"/>
              </a:spcAft>
            </a:pPr>
            <a:r>
              <a:rPr sz="1050" b="1" i="0">
                <a:solidFill>
                  <a:srgbClr val="6B7280"/>
                </a:solidFill>
                <a:latin typeface="Calibri"/>
              </a:rPr>
              <a:t>LibraryDatabase</a:t>
            </a:r>
          </a:p>
          <a:p>
            <a:pPr algn="l">
              <a:lnSpc>
                <a:spcPct val="105000"/>
              </a:lnSpc>
              <a:spcAft>
                <a:spcPts val="900"/>
              </a:spcAft>
            </a:pPr>
            <a:r>
              <a:rPr sz="1200" b="0" i="0">
                <a:solidFill>
                  <a:srgbClr val="111111"/>
                </a:solidFill>
                <a:latin typeface="Calibri"/>
              </a:rPr>
              <a:t>The Connection field is private. Nothing outside can touch the database directly; every change goes through a method that checks the rules first.</a:t>
            </a:r>
          </a:p>
        </p:txBody>
      </p:sp>
      <p:sp>
        <p:nvSpPr>
          <p:cNvPr id="9" name="Rounded Rectangle 8"/>
          <p:cNvSpPr/>
          <p:nvPr/>
        </p:nvSpPr>
        <p:spPr>
          <a:xfrm>
            <a:off x="566928" y="3209544"/>
            <a:ext cx="3346704" cy="329184"/>
          </a:xfrm>
          <a:prstGeom prst="roundRect">
            <a:avLst>
              <a:gd name="adj" fmla="val 12000"/>
            </a:avLst>
          </a:prstGeom>
          <a:solidFill>
            <a:srgbClr val="FFFFFF"/>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44805" bIns="44805"/>
          <a:lstStyle/>
          <a:p>
            <a:pPr algn="l">
              <a:spcAft>
                <a:spcPts val="0"/>
              </a:spcAft>
            </a:pPr>
            <a:r>
              <a:rPr sz="1000" b="0" i="0">
                <a:solidFill>
                  <a:srgbClr val="1D4ED8"/>
                </a:solidFill>
                <a:latin typeface="Courier New"/>
              </a:rPr>
              <a:t>private final Connection connection;</a:t>
            </a:r>
          </a:p>
        </p:txBody>
      </p:sp>
      <p:sp>
        <p:nvSpPr>
          <p:cNvPr id="10" name="Rounded Rectangle 9"/>
          <p:cNvSpPr/>
          <p:nvPr/>
        </p:nvSpPr>
        <p:spPr>
          <a:xfrm>
            <a:off x="4389120" y="1554480"/>
            <a:ext cx="3657600" cy="2130552"/>
          </a:xfrm>
          <a:prstGeom prst="roundRect">
            <a:avLst>
              <a:gd name="adj" fmla="val 7000"/>
            </a:avLst>
          </a:prstGeom>
          <a:solidFill>
            <a:srgbClr val="F4F7FC"/>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08813" bIns="108813"/>
          <a:lstStyle/>
          <a:p>
            <a:pPr algn="l">
              <a:spcAft>
                <a:spcPts val="200"/>
              </a:spcAft>
            </a:pPr>
            <a:r>
              <a:rPr sz="1500" b="1" i="0">
                <a:solidFill>
                  <a:srgbClr val="2563EB"/>
                </a:solidFill>
                <a:latin typeface="Calibri"/>
              </a:rPr>
              <a:t>Abstraction</a:t>
            </a:r>
          </a:p>
          <a:p>
            <a:pPr algn="l">
              <a:spcAft>
                <a:spcPts val="700"/>
              </a:spcAft>
            </a:pPr>
            <a:r>
              <a:rPr sz="1050" b="1" i="0">
                <a:solidFill>
                  <a:srgbClr val="6B7280"/>
                </a:solidFill>
                <a:latin typeface="Calibri"/>
              </a:rPr>
              <a:t>TabPanel · AppContext</a:t>
            </a:r>
          </a:p>
          <a:p>
            <a:pPr algn="l">
              <a:lnSpc>
                <a:spcPct val="105000"/>
              </a:lnSpc>
              <a:spcAft>
                <a:spcPts val="900"/>
              </a:spcAft>
            </a:pPr>
            <a:r>
              <a:rPr sz="1200" b="0" i="0">
                <a:solidFill>
                  <a:srgbClr val="111111"/>
                </a:solidFill>
                <a:latin typeface="Calibri"/>
              </a:rPr>
              <a:t>TabPanel is abstract with an abstract refresh(). AppContext is an interface listing the four things a tab needs, so a tab never depends on the window.</a:t>
            </a:r>
          </a:p>
        </p:txBody>
      </p:sp>
      <p:sp>
        <p:nvSpPr>
          <p:cNvPr id="11" name="Rounded Rectangle 10"/>
          <p:cNvSpPr/>
          <p:nvPr/>
        </p:nvSpPr>
        <p:spPr>
          <a:xfrm>
            <a:off x="4544568" y="3209544"/>
            <a:ext cx="3346704" cy="329184"/>
          </a:xfrm>
          <a:prstGeom prst="roundRect">
            <a:avLst>
              <a:gd name="adj" fmla="val 12000"/>
            </a:avLst>
          </a:prstGeom>
          <a:solidFill>
            <a:srgbClr val="FFFFFF"/>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44805" bIns="44805"/>
          <a:lstStyle/>
          <a:p>
            <a:pPr algn="l">
              <a:spcAft>
                <a:spcPts val="0"/>
              </a:spcAft>
            </a:pPr>
            <a:r>
              <a:rPr sz="1000" b="0" i="0">
                <a:solidFill>
                  <a:srgbClr val="1D4ED8"/>
                </a:solidFill>
                <a:latin typeface="Courier New"/>
              </a:rPr>
              <a:t>public abstract void refresh();</a:t>
            </a:r>
          </a:p>
        </p:txBody>
      </p:sp>
      <p:sp>
        <p:nvSpPr>
          <p:cNvPr id="12" name="Rounded Rectangle 11"/>
          <p:cNvSpPr/>
          <p:nvPr/>
        </p:nvSpPr>
        <p:spPr>
          <a:xfrm>
            <a:off x="8366759" y="1554480"/>
            <a:ext cx="3657600" cy="2130552"/>
          </a:xfrm>
          <a:prstGeom prst="roundRect">
            <a:avLst>
              <a:gd name="adj" fmla="val 7000"/>
            </a:avLst>
          </a:prstGeom>
          <a:solidFill>
            <a:srgbClr val="F4F7FC"/>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08813" bIns="108813"/>
          <a:lstStyle/>
          <a:p>
            <a:pPr algn="l">
              <a:spcAft>
                <a:spcPts val="200"/>
              </a:spcAft>
            </a:pPr>
            <a:r>
              <a:rPr sz="1500" b="1" i="0">
                <a:solidFill>
                  <a:srgbClr val="2563EB"/>
                </a:solidFill>
                <a:latin typeface="Calibri"/>
              </a:rPr>
              <a:t>Inheritance</a:t>
            </a:r>
          </a:p>
          <a:p>
            <a:pPr algn="l">
              <a:spcAft>
                <a:spcPts val="700"/>
              </a:spcAft>
            </a:pPr>
            <a:r>
              <a:rPr sz="1050" b="1" i="0">
                <a:solidFill>
                  <a:srgbClr val="6B7280"/>
                </a:solidFill>
                <a:latin typeface="Calibri"/>
              </a:rPr>
              <a:t>5 tabs extend TabPanel</a:t>
            </a:r>
          </a:p>
          <a:p>
            <a:pPr algn="l">
              <a:lnSpc>
                <a:spcPct val="105000"/>
              </a:lnSpc>
              <a:spcAft>
                <a:spcPts val="900"/>
              </a:spcAft>
            </a:pPr>
            <a:r>
              <a:rPr sz="1200" b="0" i="0">
                <a:solidFill>
                  <a:srgbClr val="111111"/>
                </a:solidFill>
                <a:latin typeface="Calibri"/>
              </a:rPr>
              <a:t>DashboardPanel, BooksPanel, MembersPanel, CirculationPanel and SettingsPanel all extend TabPanel. StatCard extends CardPanel.</a:t>
            </a:r>
          </a:p>
        </p:txBody>
      </p:sp>
      <p:sp>
        <p:nvSpPr>
          <p:cNvPr id="13" name="Rounded Rectangle 12"/>
          <p:cNvSpPr/>
          <p:nvPr/>
        </p:nvSpPr>
        <p:spPr>
          <a:xfrm>
            <a:off x="8522207" y="3209544"/>
            <a:ext cx="3346704" cy="329184"/>
          </a:xfrm>
          <a:prstGeom prst="roundRect">
            <a:avLst>
              <a:gd name="adj" fmla="val 12000"/>
            </a:avLst>
          </a:prstGeom>
          <a:solidFill>
            <a:srgbClr val="FFFFFF"/>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44805" bIns="44805"/>
          <a:lstStyle/>
          <a:p>
            <a:pPr algn="l">
              <a:spcAft>
                <a:spcPts val="0"/>
              </a:spcAft>
            </a:pPr>
            <a:r>
              <a:rPr sz="1000" b="0" i="0">
                <a:solidFill>
                  <a:srgbClr val="1D4ED8"/>
                </a:solidFill>
                <a:latin typeface="Courier New"/>
              </a:rPr>
              <a:t>class BooksPanel extends TabPanel</a:t>
            </a:r>
          </a:p>
        </p:txBody>
      </p:sp>
      <p:sp>
        <p:nvSpPr>
          <p:cNvPr id="14" name="Rounded Rectangle 13"/>
          <p:cNvSpPr/>
          <p:nvPr/>
        </p:nvSpPr>
        <p:spPr>
          <a:xfrm>
            <a:off x="411480" y="3922776"/>
            <a:ext cx="3657600" cy="2130552"/>
          </a:xfrm>
          <a:prstGeom prst="roundRect">
            <a:avLst>
              <a:gd name="adj" fmla="val 7000"/>
            </a:avLst>
          </a:prstGeom>
          <a:solidFill>
            <a:srgbClr val="F4F7FC"/>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08813" bIns="108813"/>
          <a:lstStyle/>
          <a:p>
            <a:pPr algn="l">
              <a:spcAft>
                <a:spcPts val="200"/>
              </a:spcAft>
            </a:pPr>
            <a:r>
              <a:rPr sz="1500" b="1" i="0">
                <a:solidFill>
                  <a:srgbClr val="2563EB"/>
                </a:solidFill>
                <a:latin typeface="Calibri"/>
              </a:rPr>
              <a:t>Polymorphism</a:t>
            </a:r>
          </a:p>
          <a:p>
            <a:pPr algn="l">
              <a:spcAft>
                <a:spcPts val="700"/>
              </a:spcAft>
            </a:pPr>
            <a:r>
              <a:rPr sz="1050" b="1" i="0">
                <a:solidFill>
                  <a:srgbClr val="6B7280"/>
                </a:solidFill>
                <a:latin typeface="Calibri"/>
              </a:rPr>
              <a:t>refresh() and overloading</a:t>
            </a:r>
          </a:p>
          <a:p>
            <a:pPr algn="l">
              <a:lnSpc>
                <a:spcPct val="105000"/>
              </a:lnSpc>
              <a:spcAft>
                <a:spcPts val="900"/>
              </a:spcAft>
            </a:pPr>
            <a:r>
              <a:rPr sz="1200" b="0" i="0">
                <a:solidFill>
                  <a:srgbClr val="111111"/>
                </a:solidFill>
                <a:latin typeface="Calibri"/>
              </a:rPr>
              <a:t>Pressing F5 calls refresh() through one TabPanel reference and each tab runs its own version. listBooks() and renewLoan() are overloaded.</a:t>
            </a:r>
          </a:p>
        </p:txBody>
      </p:sp>
      <p:sp>
        <p:nvSpPr>
          <p:cNvPr id="15" name="Rounded Rectangle 14"/>
          <p:cNvSpPr/>
          <p:nvPr/>
        </p:nvSpPr>
        <p:spPr>
          <a:xfrm>
            <a:off x="566928" y="5577840"/>
            <a:ext cx="3346704" cy="329184"/>
          </a:xfrm>
          <a:prstGeom prst="roundRect">
            <a:avLst>
              <a:gd name="adj" fmla="val 12000"/>
            </a:avLst>
          </a:prstGeom>
          <a:solidFill>
            <a:srgbClr val="FFFFFF"/>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44805" bIns="44805"/>
          <a:lstStyle/>
          <a:p>
            <a:pPr algn="l">
              <a:spcAft>
                <a:spcPts val="0"/>
              </a:spcAft>
            </a:pPr>
            <a:r>
              <a:rPr sz="1000" b="0" i="0">
                <a:solidFill>
                  <a:srgbClr val="1D4ED8"/>
                </a:solidFill>
                <a:latin typeface="Courier New"/>
              </a:rPr>
              <a:t>for (TabPanel t : tabs) t.refresh();</a:t>
            </a:r>
          </a:p>
        </p:txBody>
      </p:sp>
      <p:sp>
        <p:nvSpPr>
          <p:cNvPr id="16" name="Rounded Rectangle 15"/>
          <p:cNvSpPr/>
          <p:nvPr/>
        </p:nvSpPr>
        <p:spPr>
          <a:xfrm>
            <a:off x="4389120" y="3922776"/>
            <a:ext cx="3657600" cy="2130552"/>
          </a:xfrm>
          <a:prstGeom prst="roundRect">
            <a:avLst>
              <a:gd name="adj" fmla="val 7000"/>
            </a:avLst>
          </a:prstGeom>
          <a:solidFill>
            <a:srgbClr val="F4F7FC"/>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08813" bIns="108813"/>
          <a:lstStyle/>
          <a:p>
            <a:pPr algn="l">
              <a:spcAft>
                <a:spcPts val="200"/>
              </a:spcAft>
            </a:pPr>
            <a:r>
              <a:rPr sz="1500" b="1" i="0">
                <a:solidFill>
                  <a:srgbClr val="2563EB"/>
                </a:solidFill>
                <a:latin typeface="Calibri"/>
              </a:rPr>
              <a:t>Composition</a:t>
            </a:r>
          </a:p>
          <a:p>
            <a:pPr algn="l">
              <a:spcAft>
                <a:spcPts val="700"/>
              </a:spcAft>
            </a:pPr>
            <a:r>
              <a:rPr sz="1050" b="1" i="0">
                <a:solidFill>
                  <a:srgbClr val="6B7280"/>
                </a:solidFill>
                <a:latin typeface="Calibri"/>
              </a:rPr>
              <a:t>LibraryFrame · LoanView</a:t>
            </a:r>
          </a:p>
          <a:p>
            <a:pPr algn="l">
              <a:lnSpc>
                <a:spcPct val="105000"/>
              </a:lnSpc>
              <a:spcAft>
                <a:spcPts val="900"/>
              </a:spcAft>
            </a:pPr>
            <a:r>
              <a:rPr sz="1200" b="0" i="0">
                <a:solidFill>
                  <a:srgbClr val="111111"/>
                </a:solidFill>
                <a:latin typeface="Calibri"/>
              </a:rPr>
              <a:t>LibraryFrame is built from its five panels and a Dialogs. LoanView wraps a Loan and adds the book title and borrower name a screen needs.</a:t>
            </a:r>
          </a:p>
        </p:txBody>
      </p:sp>
      <p:sp>
        <p:nvSpPr>
          <p:cNvPr id="17" name="Rounded Rectangle 16"/>
          <p:cNvSpPr/>
          <p:nvPr/>
        </p:nvSpPr>
        <p:spPr>
          <a:xfrm>
            <a:off x="4544568" y="5577840"/>
            <a:ext cx="3346704" cy="329184"/>
          </a:xfrm>
          <a:prstGeom prst="roundRect">
            <a:avLst>
              <a:gd name="adj" fmla="val 12000"/>
            </a:avLst>
          </a:prstGeom>
          <a:solidFill>
            <a:srgbClr val="FFFFFF"/>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44805" bIns="44805"/>
          <a:lstStyle/>
          <a:p>
            <a:pPr algn="l">
              <a:spcAft>
                <a:spcPts val="0"/>
              </a:spcAft>
            </a:pPr>
            <a:r>
              <a:rPr sz="1000" b="0" i="0">
                <a:solidFill>
                  <a:srgbClr val="1D4ED8"/>
                </a:solidFill>
                <a:latin typeface="Courier New"/>
              </a:rPr>
              <a:t>record LoanView(Loan loan, ...)</a:t>
            </a:r>
          </a:p>
        </p:txBody>
      </p:sp>
      <p:sp>
        <p:nvSpPr>
          <p:cNvPr id="18" name="Rounded Rectangle 17"/>
          <p:cNvSpPr/>
          <p:nvPr/>
        </p:nvSpPr>
        <p:spPr>
          <a:xfrm>
            <a:off x="8366759" y="3922776"/>
            <a:ext cx="3657600" cy="2130552"/>
          </a:xfrm>
          <a:prstGeom prst="roundRect">
            <a:avLst>
              <a:gd name="adj" fmla="val 7000"/>
            </a:avLst>
          </a:prstGeom>
          <a:solidFill>
            <a:srgbClr val="F4F7FC"/>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t" wrap="square" lIns="155448" rIns="155448" tIns="108813" bIns="108813"/>
          <a:lstStyle/>
          <a:p>
            <a:pPr algn="l">
              <a:spcAft>
                <a:spcPts val="200"/>
              </a:spcAft>
            </a:pPr>
            <a:r>
              <a:rPr sz="1500" b="1" i="0">
                <a:solidFill>
                  <a:srgbClr val="2563EB"/>
                </a:solidFill>
                <a:latin typeface="Calibri"/>
              </a:rPr>
              <a:t>Generics and Enums</a:t>
            </a:r>
          </a:p>
          <a:p>
            <a:pPr algn="l">
              <a:spcAft>
                <a:spcPts val="700"/>
              </a:spcAft>
            </a:pPr>
            <a:r>
              <a:rPr sz="1050" b="1" i="0">
                <a:solidFill>
                  <a:srgbClr val="6B7280"/>
                </a:solidFill>
                <a:latin typeface="Calibri"/>
              </a:rPr>
              <a:t>DataTable&lt;T&gt; · MembershipType</a:t>
            </a:r>
          </a:p>
          <a:p>
            <a:pPr algn="l">
              <a:lnSpc>
                <a:spcPct val="105000"/>
              </a:lnSpc>
              <a:spcAft>
                <a:spcPts val="900"/>
              </a:spcAft>
            </a:pPr>
            <a:r>
              <a:rPr sz="1200" b="0" i="0">
                <a:solidFill>
                  <a:srgbClr val="111111"/>
                </a:solidFill>
                <a:latin typeface="Calibri"/>
              </a:rPr>
              <a:t>One DataTable&lt;T&gt; serves four tabs with different row types. MembershipType stores each type's borrowing limit beside its name.</a:t>
            </a:r>
          </a:p>
        </p:txBody>
      </p:sp>
      <p:sp>
        <p:nvSpPr>
          <p:cNvPr id="19" name="Rounded Rectangle 18"/>
          <p:cNvSpPr/>
          <p:nvPr/>
        </p:nvSpPr>
        <p:spPr>
          <a:xfrm>
            <a:off x="8522207" y="5577840"/>
            <a:ext cx="3346704" cy="329184"/>
          </a:xfrm>
          <a:prstGeom prst="roundRect">
            <a:avLst>
              <a:gd name="adj" fmla="val 12000"/>
            </a:avLst>
          </a:prstGeom>
          <a:solidFill>
            <a:srgbClr val="FFFFFF"/>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44805" bIns="44805"/>
          <a:lstStyle/>
          <a:p>
            <a:pPr algn="l">
              <a:spcAft>
                <a:spcPts val="0"/>
              </a:spcAft>
            </a:pPr>
            <a:r>
              <a:rPr sz="1000" b="0" i="0">
                <a:solidFill>
                  <a:srgbClr val="1D4ED8"/>
                </a:solidFill>
                <a:latin typeface="Courier New"/>
              </a:rPr>
              <a:t>class DataTable&lt;T&gt; extends JPanel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69264" cy="1097280"/>
          </a:xfrm>
          <a:prstGeom prst="rect">
            <a:avLst/>
          </a:prstGeom>
        </p:spPr>
      </p:pic>
      <p:sp>
        <p:nvSpPr>
          <p:cNvPr id="3" name="TextBox 2"/>
          <p:cNvSpPr txBox="1"/>
          <p:nvPr/>
        </p:nvSpPr>
        <p:spPr>
          <a:xfrm>
            <a:off x="1097280" y="109728"/>
            <a:ext cx="9994392" cy="777240"/>
          </a:xfrm>
          <a:prstGeom prst="rect">
            <a:avLst/>
          </a:prstGeom>
          <a:noFill/>
        </p:spPr>
        <p:txBody>
          <a:bodyPr wrap="square" anchor="ctr">
            <a:spAutoFit/>
          </a:bodyPr>
          <a:lstStyle/>
          <a:p>
            <a:pPr algn="ctr"/>
            <a:r>
              <a:rPr sz="3200">
                <a:solidFill>
                  <a:srgbClr val="111111"/>
                </a:solidFill>
                <a:latin typeface="Calibri"/>
              </a:rPr>
              <a:t>Class Design</a:t>
            </a:r>
          </a:p>
        </p:txBody>
      </p:sp>
      <p:sp>
        <p:nvSpPr>
          <p:cNvPr id="4" name="Rectangle 3"/>
          <p:cNvSpPr/>
          <p:nvPr/>
        </p:nvSpPr>
        <p:spPr>
          <a:xfrm>
            <a:off x="0" y="6510528"/>
            <a:ext cx="12188952" cy="347472"/>
          </a:xfrm>
          <a:prstGeom prst="rect">
            <a:avLst/>
          </a:prstGeom>
          <a:solidFill>
            <a:srgbClr val="43A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510528"/>
            <a:ext cx="10908792" cy="347472"/>
          </a:xfrm>
          <a:prstGeom prst="rect">
            <a:avLst/>
          </a:prstGeom>
          <a:noFill/>
        </p:spPr>
        <p:txBody>
          <a:bodyPr wrap="square" anchor="ctr">
            <a:spAutoFit/>
          </a:bodyPr>
          <a:lstStyle/>
          <a:p>
            <a:pPr algn="ctr"/>
            <a:r>
              <a:rPr sz="1300" b="1">
                <a:solidFill>
                  <a:srgbClr val="111111"/>
                </a:solidFill>
                <a:latin typeface="Calibri"/>
              </a:rPr>
              <a:t>Department of CSE-IOTCSBT, Vishwakarma Institute of Technology, Pune-37</a:t>
            </a:r>
          </a:p>
        </p:txBody>
      </p:sp>
      <p:sp>
        <p:nvSpPr>
          <p:cNvPr id="6" name="TextBox 5"/>
          <p:cNvSpPr txBox="1"/>
          <p:nvPr/>
        </p:nvSpPr>
        <p:spPr>
          <a:xfrm>
            <a:off x="11365992" y="6510528"/>
            <a:ext cx="640080" cy="347472"/>
          </a:xfrm>
          <a:prstGeom prst="rect">
            <a:avLst/>
          </a:prstGeom>
          <a:noFill/>
        </p:spPr>
        <p:txBody>
          <a:bodyPr wrap="none" anchor="ctr">
            <a:spAutoFit/>
          </a:bodyPr>
          <a:lstStyle/>
          <a:p>
            <a:pPr algn="r"/>
            <a:r>
              <a:rPr sz="1200" b="1">
                <a:solidFill>
                  <a:srgbClr val="111111"/>
                </a:solidFill>
                <a:latin typeface="Calibri"/>
              </a:rPr>
              <a:t>6</a:t>
            </a:r>
          </a:p>
        </p:txBody>
      </p:sp>
      <p:sp>
        <p:nvSpPr>
          <p:cNvPr id="7" name="Rounded Rectangle 6"/>
          <p:cNvSpPr/>
          <p:nvPr/>
        </p:nvSpPr>
        <p:spPr>
          <a:xfrm>
            <a:off x="411480" y="1188720"/>
            <a:ext cx="2788920" cy="566928"/>
          </a:xfrm>
          <a:prstGeom prst="roundRect">
            <a:avLst>
              <a:gd name="adj" fmla="val 6000"/>
            </a:avLst>
          </a:prstGeom>
          <a:solidFill>
            <a:srgbClr val="F4F7FC"/>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ctr" wrap="square" tIns="64007" bIns="64007"/>
          <a:lstStyle/>
          <a:p>
            <a:pPr algn="ctr">
              <a:spcAft>
                <a:spcPts val="0"/>
              </a:spcAft>
            </a:pPr>
            <a:r>
              <a:rPr sz="950" b="0" i="1">
                <a:solidFill>
                  <a:srgbClr val="6B7280"/>
                </a:solidFill>
                <a:latin typeface="Calibri"/>
              </a:rPr>
              <a:t>«interface»</a:t>
            </a:r>
          </a:p>
          <a:p>
            <a:pPr algn="ctr">
              <a:spcAft>
                <a:spcPts val="0"/>
              </a:spcAft>
            </a:pPr>
            <a:r>
              <a:rPr sz="1300" b="1" i="0">
                <a:solidFill>
                  <a:srgbClr val="047857"/>
                </a:solidFill>
                <a:latin typeface="Calibri"/>
              </a:rPr>
              <a:t>AppContext</a:t>
            </a:r>
          </a:p>
        </p:txBody>
      </p:sp>
      <p:sp>
        <p:nvSpPr>
          <p:cNvPr id="8" name="Rounded Rectangle 7"/>
          <p:cNvSpPr/>
          <p:nvPr/>
        </p:nvSpPr>
        <p:spPr>
          <a:xfrm>
            <a:off x="3931920" y="1188720"/>
            <a:ext cx="2788920" cy="566928"/>
          </a:xfrm>
          <a:prstGeom prst="roundRect">
            <a:avLst>
              <a:gd name="adj" fmla="val 6000"/>
            </a:avLst>
          </a:prstGeom>
          <a:solidFill>
            <a:srgbClr val="FFFFFF"/>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ctr" wrap="square" tIns="64007" bIns="64007"/>
          <a:lstStyle/>
          <a:p>
            <a:pPr algn="ctr">
              <a:spcAft>
                <a:spcPts val="0"/>
              </a:spcAft>
            </a:pPr>
            <a:r>
              <a:rPr sz="950" b="0" i="1">
                <a:solidFill>
                  <a:srgbClr val="6B7280"/>
                </a:solidFill>
                <a:latin typeface="Calibri"/>
              </a:rPr>
              <a:t>«JFrame»</a:t>
            </a:r>
          </a:p>
          <a:p>
            <a:pPr algn="ctr">
              <a:spcAft>
                <a:spcPts val="0"/>
              </a:spcAft>
            </a:pPr>
            <a:r>
              <a:rPr sz="1300" b="1" i="0">
                <a:solidFill>
                  <a:srgbClr val="13233A"/>
                </a:solidFill>
                <a:latin typeface="Calibri"/>
              </a:rPr>
              <a:t>LibraryFrame</a:t>
            </a:r>
          </a:p>
        </p:txBody>
      </p:sp>
      <p:cxnSp>
        <p:nvCxnSpPr>
          <p:cNvPr id="9" name="Connector 8"/>
          <p:cNvCxnSpPr/>
          <p:nvPr/>
        </p:nvCxnSpPr>
        <p:spPr>
          <a:xfrm flipH="1">
            <a:off x="3200400" y="1472184"/>
            <a:ext cx="731520" cy="0"/>
          </a:xfrm>
          <a:prstGeom prst="line">
            <a:avLst/>
          </a:prstGeom>
          <a:ln w="15875">
            <a:solidFill>
              <a:srgbClr val="047857"/>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218688" y="1152144"/>
            <a:ext cx="731520" cy="274320"/>
          </a:xfrm>
          <a:prstGeom prst="rect">
            <a:avLst/>
          </a:prstGeom>
          <a:noFill/>
        </p:spPr>
        <p:txBody>
          <a:bodyPr wrap="square" anchor="t" lIns="0" rIns="0" tIns="0" bIns="0">
            <a:spAutoFit/>
          </a:bodyPr>
          <a:lstStyle/>
          <a:p>
            <a:pPr algn="ctr">
              <a:spcAft>
                <a:spcPts val="0"/>
              </a:spcAft>
            </a:pPr>
            <a:r>
              <a:rPr sz="900" b="0" i="0">
                <a:solidFill>
                  <a:srgbClr val="6B7280"/>
                </a:solidFill>
                <a:latin typeface="Calibri"/>
              </a:rPr>
              <a:t>implements</a:t>
            </a:r>
          </a:p>
        </p:txBody>
      </p:sp>
      <p:sp>
        <p:nvSpPr>
          <p:cNvPr id="11" name="Rounded Rectangle 10"/>
          <p:cNvSpPr/>
          <p:nvPr/>
        </p:nvSpPr>
        <p:spPr>
          <a:xfrm>
            <a:off x="1920240" y="2121408"/>
            <a:ext cx="3291840" cy="713232"/>
          </a:xfrm>
          <a:prstGeom prst="roundRect">
            <a:avLst>
              <a:gd name="adj" fmla="val 6000"/>
            </a:avLst>
          </a:prstGeom>
          <a:solidFill>
            <a:srgbClr val="E8EFFB"/>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t" wrap="square" tIns="64007" bIns="64007"/>
          <a:lstStyle/>
          <a:p>
            <a:pPr algn="ctr">
              <a:spcAft>
                <a:spcPts val="0"/>
              </a:spcAft>
            </a:pPr>
            <a:r>
              <a:rPr sz="950" b="0" i="1">
                <a:solidFill>
                  <a:srgbClr val="6B7280"/>
                </a:solidFill>
                <a:latin typeface="Calibri"/>
              </a:rPr>
              <a:t>«abstract»</a:t>
            </a:r>
          </a:p>
          <a:p>
            <a:pPr algn="ctr">
              <a:spcAft>
                <a:spcPts val="300"/>
              </a:spcAft>
            </a:pPr>
            <a:r>
              <a:rPr sz="1300" b="1" i="0">
                <a:solidFill>
                  <a:srgbClr val="2563EB"/>
                </a:solidFill>
                <a:latin typeface="Calibri"/>
              </a:rPr>
              <a:t>TabPanel</a:t>
            </a:r>
          </a:p>
          <a:p>
            <a:pPr algn="l">
              <a:spcAft>
                <a:spcPts val="0"/>
              </a:spcAft>
            </a:pPr>
            <a:r>
              <a:rPr sz="1000" b="0" i="0">
                <a:solidFill>
                  <a:srgbClr val="111111"/>
                </a:solidFill>
                <a:latin typeface="Calibri"/>
              </a:rPr>
              <a:t>refresh()  is abstract — every tab must reload itself</a:t>
            </a:r>
          </a:p>
        </p:txBody>
      </p:sp>
      <p:cxnSp>
        <p:nvCxnSpPr>
          <p:cNvPr id="12" name="Connector 11"/>
          <p:cNvCxnSpPr/>
          <p:nvPr/>
        </p:nvCxnSpPr>
        <p:spPr>
          <a:xfrm>
            <a:off x="5321808" y="1755648"/>
            <a:ext cx="0" cy="182880"/>
          </a:xfrm>
          <a:prstGeom prst="line">
            <a:avLst/>
          </a:prstGeom>
          <a:ln w="15875">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3566160" y="1938528"/>
            <a:ext cx="1755648" cy="0"/>
          </a:xfrm>
          <a:prstGeom prst="line">
            <a:avLst/>
          </a:prstGeom>
          <a:ln w="15875">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566160" y="1938528"/>
            <a:ext cx="0" cy="182880"/>
          </a:xfrm>
          <a:prstGeom prst="line">
            <a:avLst/>
          </a:prstGeom>
          <a:ln w="1587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767328" y="1792224"/>
            <a:ext cx="1600200" cy="237744"/>
          </a:xfrm>
          <a:prstGeom prst="rect">
            <a:avLst/>
          </a:prstGeom>
          <a:noFill/>
        </p:spPr>
        <p:txBody>
          <a:bodyPr wrap="square" anchor="t" lIns="0" rIns="0" tIns="0" bIns="0">
            <a:spAutoFit/>
          </a:bodyPr>
          <a:lstStyle/>
          <a:p>
            <a:pPr algn="l">
              <a:spcAft>
                <a:spcPts val="0"/>
              </a:spcAft>
            </a:pPr>
            <a:r>
              <a:rPr sz="900" b="0" i="0">
                <a:solidFill>
                  <a:srgbClr val="6B7280"/>
                </a:solidFill>
                <a:latin typeface="Calibri"/>
              </a:rPr>
              <a:t>builds the five tabs</a:t>
            </a:r>
          </a:p>
        </p:txBody>
      </p:sp>
      <p:cxnSp>
        <p:nvCxnSpPr>
          <p:cNvPr id="16" name="Connector 15"/>
          <p:cNvCxnSpPr/>
          <p:nvPr/>
        </p:nvCxnSpPr>
        <p:spPr>
          <a:xfrm>
            <a:off x="3566160" y="2834640"/>
            <a:ext cx="0" cy="310896"/>
          </a:xfrm>
          <a:prstGeom prst="line">
            <a:avLst/>
          </a:prstGeom>
          <a:ln w="15875">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05840" y="3145536"/>
            <a:ext cx="5084064" cy="0"/>
          </a:xfrm>
          <a:prstGeom prst="line">
            <a:avLst/>
          </a:prstGeom>
          <a:ln w="15875">
            <a:solidFill>
              <a:srgbClr val="6B728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11480" y="3456432"/>
            <a:ext cx="1188720" cy="566928"/>
          </a:xfrm>
          <a:prstGeom prst="roundRect">
            <a:avLst>
              <a:gd name="adj" fmla="val 8000"/>
            </a:avLst>
          </a:prstGeom>
          <a:solidFill>
            <a:srgbClr val="FFFFFF"/>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9202" bIns="19202"/>
          <a:lstStyle/>
          <a:p>
            <a:pPr algn="ctr">
              <a:spcAft>
                <a:spcPts val="0"/>
              </a:spcAft>
            </a:pPr>
            <a:r>
              <a:rPr sz="1050" b="1" i="0">
                <a:solidFill>
                  <a:srgbClr val="13233A"/>
                </a:solidFill>
                <a:latin typeface="Calibri"/>
              </a:rPr>
              <a:t>DashboardPanel</a:t>
            </a:r>
          </a:p>
        </p:txBody>
      </p:sp>
      <p:cxnSp>
        <p:nvCxnSpPr>
          <p:cNvPr id="19" name="Connector 18"/>
          <p:cNvCxnSpPr/>
          <p:nvPr/>
        </p:nvCxnSpPr>
        <p:spPr>
          <a:xfrm>
            <a:off x="1005840" y="3145536"/>
            <a:ext cx="0" cy="310896"/>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682496" y="3456432"/>
            <a:ext cx="1188720" cy="566928"/>
          </a:xfrm>
          <a:prstGeom prst="roundRect">
            <a:avLst>
              <a:gd name="adj" fmla="val 8000"/>
            </a:avLst>
          </a:prstGeom>
          <a:solidFill>
            <a:srgbClr val="FFFFFF"/>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9202" bIns="19202"/>
          <a:lstStyle/>
          <a:p>
            <a:pPr algn="ctr">
              <a:spcAft>
                <a:spcPts val="0"/>
              </a:spcAft>
            </a:pPr>
            <a:r>
              <a:rPr sz="1050" b="1" i="0">
                <a:solidFill>
                  <a:srgbClr val="13233A"/>
                </a:solidFill>
                <a:latin typeface="Calibri"/>
              </a:rPr>
              <a:t>BooksPanel</a:t>
            </a:r>
          </a:p>
        </p:txBody>
      </p:sp>
      <p:cxnSp>
        <p:nvCxnSpPr>
          <p:cNvPr id="21" name="Connector 20"/>
          <p:cNvCxnSpPr/>
          <p:nvPr/>
        </p:nvCxnSpPr>
        <p:spPr>
          <a:xfrm>
            <a:off x="2276856" y="3145536"/>
            <a:ext cx="0" cy="310896"/>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2953512" y="3456432"/>
            <a:ext cx="1188720" cy="566928"/>
          </a:xfrm>
          <a:prstGeom prst="roundRect">
            <a:avLst>
              <a:gd name="adj" fmla="val 8000"/>
            </a:avLst>
          </a:prstGeom>
          <a:solidFill>
            <a:srgbClr val="FFFFFF"/>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9202" bIns="19202"/>
          <a:lstStyle/>
          <a:p>
            <a:pPr algn="ctr">
              <a:spcAft>
                <a:spcPts val="0"/>
              </a:spcAft>
            </a:pPr>
            <a:r>
              <a:rPr sz="1050" b="1" i="0">
                <a:solidFill>
                  <a:srgbClr val="13233A"/>
                </a:solidFill>
                <a:latin typeface="Calibri"/>
              </a:rPr>
              <a:t>MembersPanel</a:t>
            </a:r>
          </a:p>
        </p:txBody>
      </p:sp>
      <p:cxnSp>
        <p:nvCxnSpPr>
          <p:cNvPr id="23" name="Connector 22"/>
          <p:cNvCxnSpPr/>
          <p:nvPr/>
        </p:nvCxnSpPr>
        <p:spPr>
          <a:xfrm>
            <a:off x="3547872" y="3145536"/>
            <a:ext cx="0" cy="310896"/>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224528" y="3456432"/>
            <a:ext cx="1188720" cy="566928"/>
          </a:xfrm>
          <a:prstGeom prst="roundRect">
            <a:avLst>
              <a:gd name="adj" fmla="val 8000"/>
            </a:avLst>
          </a:prstGeom>
          <a:solidFill>
            <a:srgbClr val="FFFFFF"/>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9202" bIns="19202"/>
          <a:lstStyle/>
          <a:p>
            <a:pPr algn="ctr">
              <a:spcAft>
                <a:spcPts val="0"/>
              </a:spcAft>
            </a:pPr>
            <a:r>
              <a:rPr sz="1050" b="1" i="0">
                <a:solidFill>
                  <a:srgbClr val="13233A"/>
                </a:solidFill>
                <a:latin typeface="Calibri"/>
              </a:rPr>
              <a:t>CirculationPanel</a:t>
            </a:r>
          </a:p>
        </p:txBody>
      </p:sp>
      <p:cxnSp>
        <p:nvCxnSpPr>
          <p:cNvPr id="25" name="Connector 24"/>
          <p:cNvCxnSpPr/>
          <p:nvPr/>
        </p:nvCxnSpPr>
        <p:spPr>
          <a:xfrm>
            <a:off x="4818888" y="3145536"/>
            <a:ext cx="0" cy="310896"/>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495544" y="3456432"/>
            <a:ext cx="1188720" cy="566928"/>
          </a:xfrm>
          <a:prstGeom prst="roundRect">
            <a:avLst>
              <a:gd name="adj" fmla="val 8000"/>
            </a:avLst>
          </a:prstGeom>
          <a:solidFill>
            <a:srgbClr val="FFFFFF"/>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9202" bIns="19202"/>
          <a:lstStyle/>
          <a:p>
            <a:pPr algn="ctr">
              <a:spcAft>
                <a:spcPts val="0"/>
              </a:spcAft>
            </a:pPr>
            <a:r>
              <a:rPr sz="1050" b="1" i="0">
                <a:solidFill>
                  <a:srgbClr val="13233A"/>
                </a:solidFill>
                <a:latin typeface="Calibri"/>
              </a:rPr>
              <a:t>SettingsPanel</a:t>
            </a:r>
          </a:p>
        </p:txBody>
      </p:sp>
      <p:cxnSp>
        <p:nvCxnSpPr>
          <p:cNvPr id="27" name="Connector 26"/>
          <p:cNvCxnSpPr/>
          <p:nvPr/>
        </p:nvCxnSpPr>
        <p:spPr>
          <a:xfrm>
            <a:off x="6089904" y="3145536"/>
            <a:ext cx="0" cy="310896"/>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11480" y="4078224"/>
            <a:ext cx="6355080" cy="274320"/>
          </a:xfrm>
          <a:prstGeom prst="rect">
            <a:avLst/>
          </a:prstGeom>
          <a:noFill/>
        </p:spPr>
        <p:txBody>
          <a:bodyPr wrap="square" anchor="t" lIns="0" rIns="0" tIns="0" bIns="0">
            <a:spAutoFit/>
          </a:bodyPr>
          <a:lstStyle/>
          <a:p>
            <a:pPr algn="ctr">
              <a:spcAft>
                <a:spcPts val="0"/>
              </a:spcAft>
            </a:pPr>
            <a:r>
              <a:rPr sz="1050" b="0" i="1">
                <a:solidFill>
                  <a:srgbClr val="6B7280"/>
                </a:solidFill>
                <a:latin typeface="Calibri"/>
              </a:rPr>
              <a:t>Five tabs, one shape — the window treats them identically</a:t>
            </a:r>
          </a:p>
        </p:txBody>
      </p:sp>
      <p:sp>
        <p:nvSpPr>
          <p:cNvPr id="29" name="Rounded Rectangle 28"/>
          <p:cNvSpPr/>
          <p:nvPr/>
        </p:nvSpPr>
        <p:spPr>
          <a:xfrm>
            <a:off x="411480" y="4407408"/>
            <a:ext cx="6355080" cy="640080"/>
          </a:xfrm>
          <a:prstGeom prst="roundRect">
            <a:avLst>
              <a:gd name="adj" fmla="val 6000"/>
            </a:avLst>
          </a:prstGeom>
          <a:solidFill>
            <a:srgbClr val="E8EFFB"/>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t" wrap="square" tIns="64007" bIns="64007"/>
          <a:lstStyle/>
          <a:p>
            <a:pPr algn="ctr">
              <a:spcAft>
                <a:spcPts val="300"/>
              </a:spcAft>
            </a:pPr>
            <a:r>
              <a:rPr sz="1300" b="1" i="0">
                <a:solidFill>
                  <a:srgbClr val="2563EB"/>
                </a:solidFill>
                <a:latin typeface="Calibri"/>
              </a:rPr>
              <a:t>LibraryDatabase</a:t>
            </a:r>
          </a:p>
          <a:p>
            <a:pPr algn="l">
              <a:spcAft>
                <a:spcPts val="0"/>
              </a:spcAft>
            </a:pPr>
            <a:r>
              <a:rPr sz="1000" b="0" i="0">
                <a:solidFill>
                  <a:srgbClr val="111111"/>
                </a:solidFill>
                <a:latin typeface="Calibri"/>
              </a:rPr>
              <a:t>Owns every rule · hands back model objects · throws LibraryException</a:t>
            </a:r>
          </a:p>
        </p:txBody>
      </p:sp>
      <p:sp>
        <p:nvSpPr>
          <p:cNvPr id="30" name="Rounded Rectangle 29"/>
          <p:cNvSpPr/>
          <p:nvPr/>
        </p:nvSpPr>
        <p:spPr>
          <a:xfrm>
            <a:off x="411480" y="5285232"/>
            <a:ext cx="1527048" cy="713232"/>
          </a:xfrm>
          <a:prstGeom prst="roundRect">
            <a:avLst>
              <a:gd name="adj" fmla="val 6000"/>
            </a:avLst>
          </a:prstGeom>
          <a:solidFill>
            <a:srgbClr val="FFFFFF"/>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32003" bIns="32003"/>
          <a:lstStyle/>
          <a:p>
            <a:pPr algn="ctr">
              <a:spcAft>
                <a:spcPts val="100"/>
              </a:spcAft>
            </a:pPr>
            <a:r>
              <a:rPr sz="900" b="0" i="1">
                <a:solidFill>
                  <a:srgbClr val="6B7280"/>
                </a:solidFill>
                <a:latin typeface="Calibri"/>
              </a:rPr>
              <a:t>«record»</a:t>
            </a:r>
          </a:p>
          <a:p>
            <a:pPr algn="ctr">
              <a:spcAft>
                <a:spcPts val="100"/>
              </a:spcAft>
            </a:pPr>
            <a:r>
              <a:rPr sz="1200" b="1" i="0">
                <a:solidFill>
                  <a:srgbClr val="13233A"/>
                </a:solidFill>
                <a:latin typeface="Calibri"/>
              </a:rPr>
              <a:t>Book</a:t>
            </a:r>
          </a:p>
          <a:p>
            <a:pPr algn="ctr">
              <a:spcAft>
                <a:spcPts val="0"/>
              </a:spcAft>
            </a:pPr>
            <a:r>
              <a:rPr sz="950" b="0" i="0">
                <a:solidFill>
                  <a:srgbClr val="6B7280"/>
                </a:solidFill>
                <a:latin typeface="Calibri"/>
              </a:rPr>
              <a:t>11 fields</a:t>
            </a:r>
          </a:p>
        </p:txBody>
      </p:sp>
      <p:sp>
        <p:nvSpPr>
          <p:cNvPr id="31" name="Rounded Rectangle 30"/>
          <p:cNvSpPr/>
          <p:nvPr/>
        </p:nvSpPr>
        <p:spPr>
          <a:xfrm>
            <a:off x="2020824" y="5285232"/>
            <a:ext cx="1527048" cy="713232"/>
          </a:xfrm>
          <a:prstGeom prst="roundRect">
            <a:avLst>
              <a:gd name="adj" fmla="val 6000"/>
            </a:avLst>
          </a:prstGeom>
          <a:solidFill>
            <a:srgbClr val="FFFFFF"/>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32003" bIns="32003"/>
          <a:lstStyle/>
          <a:p>
            <a:pPr algn="ctr">
              <a:spcAft>
                <a:spcPts val="100"/>
              </a:spcAft>
            </a:pPr>
            <a:r>
              <a:rPr sz="900" b="0" i="1">
                <a:solidFill>
                  <a:srgbClr val="6B7280"/>
                </a:solidFill>
                <a:latin typeface="Calibri"/>
              </a:rPr>
              <a:t>«record»</a:t>
            </a:r>
          </a:p>
          <a:p>
            <a:pPr algn="ctr">
              <a:spcAft>
                <a:spcPts val="100"/>
              </a:spcAft>
            </a:pPr>
            <a:r>
              <a:rPr sz="1200" b="1" i="0">
                <a:solidFill>
                  <a:srgbClr val="13233A"/>
                </a:solidFill>
                <a:latin typeface="Calibri"/>
              </a:rPr>
              <a:t>Member</a:t>
            </a:r>
          </a:p>
          <a:p>
            <a:pPr algn="ctr">
              <a:spcAft>
                <a:spcPts val="0"/>
              </a:spcAft>
            </a:pPr>
            <a:r>
              <a:rPr sz="950" b="0" i="0">
                <a:solidFill>
                  <a:srgbClr val="6B7280"/>
                </a:solidFill>
                <a:latin typeface="Calibri"/>
              </a:rPr>
              <a:t>10 fields</a:t>
            </a:r>
          </a:p>
        </p:txBody>
      </p:sp>
      <p:sp>
        <p:nvSpPr>
          <p:cNvPr id="32" name="Rounded Rectangle 31"/>
          <p:cNvSpPr/>
          <p:nvPr/>
        </p:nvSpPr>
        <p:spPr>
          <a:xfrm>
            <a:off x="3630168" y="5285232"/>
            <a:ext cx="1527048" cy="713232"/>
          </a:xfrm>
          <a:prstGeom prst="roundRect">
            <a:avLst>
              <a:gd name="adj" fmla="val 6000"/>
            </a:avLst>
          </a:prstGeom>
          <a:solidFill>
            <a:srgbClr val="FFFFFF"/>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32003" bIns="32003"/>
          <a:lstStyle/>
          <a:p>
            <a:pPr algn="ctr">
              <a:spcAft>
                <a:spcPts val="100"/>
              </a:spcAft>
            </a:pPr>
            <a:r>
              <a:rPr sz="900" b="0" i="1">
                <a:solidFill>
                  <a:srgbClr val="6B7280"/>
                </a:solidFill>
                <a:latin typeface="Calibri"/>
              </a:rPr>
              <a:t>«record»</a:t>
            </a:r>
          </a:p>
          <a:p>
            <a:pPr algn="ctr">
              <a:spcAft>
                <a:spcPts val="100"/>
              </a:spcAft>
            </a:pPr>
            <a:r>
              <a:rPr sz="1200" b="1" i="0">
                <a:solidFill>
                  <a:srgbClr val="13233A"/>
                </a:solidFill>
                <a:latin typeface="Calibri"/>
              </a:rPr>
              <a:t>Loan</a:t>
            </a:r>
          </a:p>
          <a:p>
            <a:pPr algn="ctr">
              <a:spcAft>
                <a:spcPts val="0"/>
              </a:spcAft>
            </a:pPr>
            <a:r>
              <a:rPr sz="950" b="0" i="0">
                <a:solidFill>
                  <a:srgbClr val="6B7280"/>
                </a:solidFill>
                <a:latin typeface="Calibri"/>
              </a:rPr>
              <a:t>9 fields</a:t>
            </a:r>
          </a:p>
        </p:txBody>
      </p:sp>
      <p:sp>
        <p:nvSpPr>
          <p:cNvPr id="33" name="Rounded Rectangle 32"/>
          <p:cNvSpPr/>
          <p:nvPr/>
        </p:nvSpPr>
        <p:spPr>
          <a:xfrm>
            <a:off x="5239512" y="5285232"/>
            <a:ext cx="1527048" cy="713232"/>
          </a:xfrm>
          <a:prstGeom prst="roundRect">
            <a:avLst>
              <a:gd name="adj" fmla="val 6000"/>
            </a:avLst>
          </a:prstGeom>
          <a:solidFill>
            <a:srgbClr val="FFFFFF"/>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32003" bIns="32003"/>
          <a:lstStyle/>
          <a:p>
            <a:pPr algn="ctr">
              <a:spcAft>
                <a:spcPts val="100"/>
              </a:spcAft>
            </a:pPr>
            <a:r>
              <a:rPr sz="900" b="0" i="1">
                <a:solidFill>
                  <a:srgbClr val="6B7280"/>
                </a:solidFill>
                <a:latin typeface="Calibri"/>
              </a:rPr>
              <a:t>«record»</a:t>
            </a:r>
          </a:p>
          <a:p>
            <a:pPr algn="ctr">
              <a:spcAft>
                <a:spcPts val="100"/>
              </a:spcAft>
            </a:pPr>
            <a:r>
              <a:rPr sz="1200" b="1" i="0">
                <a:solidFill>
                  <a:srgbClr val="13233A"/>
                </a:solidFill>
                <a:latin typeface="Calibri"/>
              </a:rPr>
              <a:t>LoanView</a:t>
            </a:r>
          </a:p>
          <a:p>
            <a:pPr algn="ctr">
              <a:spcAft>
                <a:spcPts val="0"/>
              </a:spcAft>
            </a:pPr>
            <a:r>
              <a:rPr sz="950" b="0" i="0">
                <a:solidFill>
                  <a:srgbClr val="6B7280"/>
                </a:solidFill>
                <a:latin typeface="Calibri"/>
              </a:rPr>
              <a:t>wraps a Loan</a:t>
            </a:r>
          </a:p>
        </p:txBody>
      </p:sp>
      <p:sp>
        <p:nvSpPr>
          <p:cNvPr id="34" name="TextBox 33"/>
          <p:cNvSpPr txBox="1"/>
          <p:nvPr/>
        </p:nvSpPr>
        <p:spPr>
          <a:xfrm>
            <a:off x="411480" y="6071616"/>
            <a:ext cx="6355080" cy="274320"/>
          </a:xfrm>
          <a:prstGeom prst="rect">
            <a:avLst/>
          </a:prstGeom>
          <a:noFill/>
        </p:spPr>
        <p:txBody>
          <a:bodyPr wrap="square" anchor="t" lIns="0" rIns="0" tIns="0" bIns="0">
            <a:spAutoFit/>
          </a:bodyPr>
          <a:lstStyle/>
          <a:p>
            <a:pPr algn="ctr">
              <a:spcAft>
                <a:spcPts val="0"/>
              </a:spcAft>
            </a:pPr>
            <a:r>
              <a:rPr sz="1050" b="0" i="1">
                <a:solidFill>
                  <a:srgbClr val="6B7280"/>
                </a:solidFill>
                <a:latin typeface="Calibri"/>
              </a:rPr>
              <a:t>Immutable model classes — they hold data, not a connection</a:t>
            </a:r>
          </a:p>
        </p:txBody>
      </p:sp>
      <p:sp>
        <p:nvSpPr>
          <p:cNvPr id="35" name="TextBox 34"/>
          <p:cNvSpPr txBox="1"/>
          <p:nvPr/>
        </p:nvSpPr>
        <p:spPr>
          <a:xfrm>
            <a:off x="7086600" y="1188720"/>
            <a:ext cx="4727448" cy="274320"/>
          </a:xfrm>
          <a:prstGeom prst="rect">
            <a:avLst/>
          </a:prstGeom>
          <a:noFill/>
        </p:spPr>
        <p:txBody>
          <a:bodyPr wrap="square" anchor="t" lIns="0" rIns="0" tIns="0" bIns="0">
            <a:spAutoFit/>
          </a:bodyPr>
          <a:lstStyle/>
          <a:p>
            <a:pPr algn="l">
              <a:spcAft>
                <a:spcPts val="0"/>
              </a:spcAft>
            </a:pPr>
            <a:r>
              <a:rPr sz="1500" b="1" i="0">
                <a:solidFill>
                  <a:srgbClr val="13233A"/>
                </a:solidFill>
                <a:latin typeface="Calibri"/>
              </a:rPr>
              <a:t>Reading the design</a:t>
            </a:r>
          </a:p>
        </p:txBody>
      </p:sp>
      <p:sp>
        <p:nvSpPr>
          <p:cNvPr id="36" name="Oval 35"/>
          <p:cNvSpPr/>
          <p:nvPr/>
        </p:nvSpPr>
        <p:spPr>
          <a:xfrm>
            <a:off x="7086600" y="1659636"/>
            <a:ext cx="137160" cy="13716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51776" y="1591056"/>
            <a:ext cx="4462272" cy="804672"/>
          </a:xfrm>
          <a:prstGeom prst="rect">
            <a:avLst/>
          </a:prstGeom>
          <a:noFill/>
        </p:spPr>
        <p:txBody>
          <a:bodyPr wrap="square" anchor="t" lIns="0" rIns="0" tIns="0" bIns="0">
            <a:spAutoFit/>
          </a:bodyPr>
          <a:lstStyle/>
          <a:p>
            <a:pPr algn="l">
              <a:spcAft>
                <a:spcPts val="0"/>
              </a:spcAft>
            </a:pPr>
            <a:r>
              <a:rPr sz="1250" b="0" i="0">
                <a:solidFill>
                  <a:srgbClr val="111111"/>
                </a:solidFill>
                <a:latin typeface="Calibri"/>
              </a:rPr>
              <a:t>TabPanel is the shape of a tab: every screen must supply refresh(). That one method lets F5 reload all five at once.</a:t>
            </a:r>
          </a:p>
        </p:txBody>
      </p:sp>
      <p:sp>
        <p:nvSpPr>
          <p:cNvPr id="38" name="Oval 37"/>
          <p:cNvSpPr/>
          <p:nvPr/>
        </p:nvSpPr>
        <p:spPr>
          <a:xfrm>
            <a:off x="7086600" y="2464308"/>
            <a:ext cx="137160" cy="13716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51776" y="2395728"/>
            <a:ext cx="4462272" cy="804672"/>
          </a:xfrm>
          <a:prstGeom prst="rect">
            <a:avLst/>
          </a:prstGeom>
          <a:noFill/>
        </p:spPr>
        <p:txBody>
          <a:bodyPr wrap="square" anchor="t" lIns="0" rIns="0" tIns="0" bIns="0">
            <a:spAutoFit/>
          </a:bodyPr>
          <a:lstStyle/>
          <a:p>
            <a:pPr algn="l">
              <a:spcAft>
                <a:spcPts val="0"/>
              </a:spcAft>
            </a:pPr>
            <a:r>
              <a:rPr sz="1250" b="0" i="0">
                <a:solidFill>
                  <a:srgbClr val="111111"/>
                </a:solidFill>
                <a:latin typeface="Calibri"/>
              </a:rPr>
              <a:t>AppContext is an interface, so a tab never depends on the real window — which is how 23 tests drive the screens with no display.</a:t>
            </a:r>
          </a:p>
        </p:txBody>
      </p:sp>
      <p:sp>
        <p:nvSpPr>
          <p:cNvPr id="40" name="Oval 39"/>
          <p:cNvSpPr/>
          <p:nvPr/>
        </p:nvSpPr>
        <p:spPr>
          <a:xfrm>
            <a:off x="7086600" y="3268980"/>
            <a:ext cx="137160" cy="13716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51776" y="3200400"/>
            <a:ext cx="4462272" cy="804672"/>
          </a:xfrm>
          <a:prstGeom prst="rect">
            <a:avLst/>
          </a:prstGeom>
          <a:noFill/>
        </p:spPr>
        <p:txBody>
          <a:bodyPr wrap="square" anchor="t" lIns="0" rIns="0" tIns="0" bIns="0">
            <a:spAutoFit/>
          </a:bodyPr>
          <a:lstStyle/>
          <a:p>
            <a:pPr algn="l">
              <a:spcAft>
                <a:spcPts val="0"/>
              </a:spcAft>
            </a:pPr>
            <a:r>
              <a:rPr sz="1250" b="0" i="0">
                <a:solidFill>
                  <a:srgbClr val="111111"/>
                </a:solidFill>
                <a:latin typeface="Calibri"/>
              </a:rPr>
              <a:t>The model classes are Java records: immutable, with no database connection, so they cannot save themselves.</a:t>
            </a:r>
          </a:p>
        </p:txBody>
      </p:sp>
      <p:sp>
        <p:nvSpPr>
          <p:cNvPr id="42" name="Oval 41"/>
          <p:cNvSpPr/>
          <p:nvPr/>
        </p:nvSpPr>
        <p:spPr>
          <a:xfrm>
            <a:off x="7086600" y="4073652"/>
            <a:ext cx="137160" cy="13716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51776" y="4005072"/>
            <a:ext cx="4462272" cy="804672"/>
          </a:xfrm>
          <a:prstGeom prst="rect">
            <a:avLst/>
          </a:prstGeom>
          <a:noFill/>
        </p:spPr>
        <p:txBody>
          <a:bodyPr wrap="square" anchor="t" lIns="0" rIns="0" tIns="0" bIns="0">
            <a:spAutoFit/>
          </a:bodyPr>
          <a:lstStyle/>
          <a:p>
            <a:pPr algn="l">
              <a:spcAft>
                <a:spcPts val="0"/>
              </a:spcAft>
            </a:pPr>
            <a:r>
              <a:rPr sz="1250" b="0" i="0">
                <a:solidFill>
                  <a:srgbClr val="111111"/>
                </a:solidFill>
                <a:latin typeface="Calibri"/>
              </a:rPr>
              <a:t>LoanView wraps a Loan and adds the book title and borrower name, fetched in one JOIN rather than one query per row.</a:t>
            </a:r>
          </a:p>
        </p:txBody>
      </p:sp>
      <p:sp>
        <p:nvSpPr>
          <p:cNvPr id="44" name="Oval 43"/>
          <p:cNvSpPr/>
          <p:nvPr/>
        </p:nvSpPr>
        <p:spPr>
          <a:xfrm>
            <a:off x="7086600" y="4878324"/>
            <a:ext cx="137160" cy="13716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51776" y="4809744"/>
            <a:ext cx="4462272" cy="804672"/>
          </a:xfrm>
          <a:prstGeom prst="rect">
            <a:avLst/>
          </a:prstGeom>
          <a:noFill/>
        </p:spPr>
        <p:txBody>
          <a:bodyPr wrap="square" anchor="t" lIns="0" rIns="0" tIns="0" bIns="0">
            <a:spAutoFit/>
          </a:bodyPr>
          <a:lstStyle/>
          <a:p>
            <a:pPr algn="l">
              <a:spcAft>
                <a:spcPts val="0"/>
              </a:spcAft>
            </a:pPr>
            <a:r>
              <a:rPr sz="1250" b="0" i="0">
                <a:solidFill>
                  <a:srgbClr val="111111"/>
                </a:solidFill>
                <a:latin typeface="Calibri"/>
              </a:rPr>
              <a:t>LibraryDatabase is the only class that holds a connection — the single door to the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69264" cy="1097280"/>
          </a:xfrm>
          <a:prstGeom prst="rect">
            <a:avLst/>
          </a:prstGeom>
        </p:spPr>
      </p:pic>
      <p:sp>
        <p:nvSpPr>
          <p:cNvPr id="3" name="TextBox 2"/>
          <p:cNvSpPr txBox="1"/>
          <p:nvPr/>
        </p:nvSpPr>
        <p:spPr>
          <a:xfrm>
            <a:off x="1097280" y="109728"/>
            <a:ext cx="9994392" cy="777240"/>
          </a:xfrm>
          <a:prstGeom prst="rect">
            <a:avLst/>
          </a:prstGeom>
          <a:noFill/>
        </p:spPr>
        <p:txBody>
          <a:bodyPr wrap="square" anchor="ctr">
            <a:spAutoFit/>
          </a:bodyPr>
          <a:lstStyle/>
          <a:p>
            <a:pPr algn="ctr"/>
            <a:r>
              <a:rPr sz="3200">
                <a:solidFill>
                  <a:srgbClr val="111111"/>
                </a:solidFill>
                <a:latin typeface="Calibri"/>
              </a:rPr>
              <a:t>Database Design</a:t>
            </a:r>
          </a:p>
        </p:txBody>
      </p:sp>
      <p:sp>
        <p:nvSpPr>
          <p:cNvPr id="4" name="Rectangle 3"/>
          <p:cNvSpPr/>
          <p:nvPr/>
        </p:nvSpPr>
        <p:spPr>
          <a:xfrm>
            <a:off x="0" y="6510528"/>
            <a:ext cx="12188952" cy="347472"/>
          </a:xfrm>
          <a:prstGeom prst="rect">
            <a:avLst/>
          </a:prstGeom>
          <a:solidFill>
            <a:srgbClr val="43A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510528"/>
            <a:ext cx="10908792" cy="347472"/>
          </a:xfrm>
          <a:prstGeom prst="rect">
            <a:avLst/>
          </a:prstGeom>
          <a:noFill/>
        </p:spPr>
        <p:txBody>
          <a:bodyPr wrap="square" anchor="ctr">
            <a:spAutoFit/>
          </a:bodyPr>
          <a:lstStyle/>
          <a:p>
            <a:pPr algn="ctr"/>
            <a:r>
              <a:rPr sz="1300" b="1">
                <a:solidFill>
                  <a:srgbClr val="111111"/>
                </a:solidFill>
                <a:latin typeface="Calibri"/>
              </a:rPr>
              <a:t>Department of CSE-IOTCSBT, Vishwakarma Institute of Technology, Pune-37</a:t>
            </a:r>
          </a:p>
        </p:txBody>
      </p:sp>
      <p:sp>
        <p:nvSpPr>
          <p:cNvPr id="6" name="TextBox 5"/>
          <p:cNvSpPr txBox="1"/>
          <p:nvPr/>
        </p:nvSpPr>
        <p:spPr>
          <a:xfrm>
            <a:off x="11365992" y="6510528"/>
            <a:ext cx="640080" cy="347472"/>
          </a:xfrm>
          <a:prstGeom prst="rect">
            <a:avLst/>
          </a:prstGeom>
          <a:noFill/>
        </p:spPr>
        <p:txBody>
          <a:bodyPr wrap="none" anchor="ctr">
            <a:spAutoFit/>
          </a:bodyPr>
          <a:lstStyle/>
          <a:p>
            <a:pPr algn="r"/>
            <a:r>
              <a:rPr sz="1200" b="1">
                <a:solidFill>
                  <a:srgbClr val="111111"/>
                </a:solidFill>
                <a:latin typeface="Calibri"/>
              </a:rPr>
              <a:t>7</a:t>
            </a:r>
          </a:p>
        </p:txBody>
      </p:sp>
      <p:sp>
        <p:nvSpPr>
          <p:cNvPr id="7" name="Rounded Rectangle 6"/>
          <p:cNvSpPr/>
          <p:nvPr/>
        </p:nvSpPr>
        <p:spPr>
          <a:xfrm>
            <a:off x="411480" y="1225296"/>
            <a:ext cx="2971800" cy="1645920"/>
          </a:xfrm>
          <a:prstGeom prst="roundRect">
            <a:avLst>
              <a:gd name="adj" fmla="val 6000"/>
            </a:avLst>
          </a:prstGeom>
          <a:solidFill>
            <a:srgbClr val="F4F7FC"/>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t" wrap="square" tIns="64007" bIns="64007"/>
          <a:lstStyle/>
          <a:p>
            <a:pPr algn="ctr">
              <a:spcAft>
                <a:spcPts val="300"/>
              </a:spcAft>
            </a:pPr>
            <a:r>
              <a:rPr sz="1300" b="1" i="0">
                <a:solidFill>
                  <a:srgbClr val="2563EB"/>
                </a:solidFill>
                <a:latin typeface="Calibri"/>
              </a:rPr>
              <a:t>BOOKS</a:t>
            </a:r>
          </a:p>
          <a:p>
            <a:pPr algn="l">
              <a:spcAft>
                <a:spcPts val="100"/>
              </a:spcAft>
            </a:pPr>
            <a:r>
              <a:rPr sz="1100" b="0" i="0">
                <a:solidFill>
                  <a:srgbClr val="111111"/>
                </a:solidFill>
                <a:latin typeface="Calibri"/>
              </a:rPr>
              <a:t>id                      PK</a:t>
            </a:r>
          </a:p>
          <a:p>
            <a:pPr algn="l">
              <a:spcAft>
                <a:spcPts val="100"/>
              </a:spcAft>
            </a:pPr>
            <a:r>
              <a:rPr sz="1100" b="0" i="0">
                <a:solidFill>
                  <a:srgbClr val="111111"/>
                </a:solidFill>
                <a:latin typeface="Calibri"/>
              </a:rPr>
              <a:t>title, author</a:t>
            </a:r>
          </a:p>
          <a:p>
            <a:pPr algn="l">
              <a:spcAft>
                <a:spcPts val="100"/>
              </a:spcAft>
            </a:pPr>
            <a:r>
              <a:rPr sz="1100" b="0" i="0">
                <a:solidFill>
                  <a:srgbClr val="111111"/>
                </a:solidFill>
                <a:latin typeface="Calibri"/>
              </a:rPr>
              <a:t>isbn            UNIQUE</a:t>
            </a:r>
          </a:p>
          <a:p>
            <a:pPr algn="l">
              <a:spcAft>
                <a:spcPts val="100"/>
              </a:spcAft>
            </a:pPr>
            <a:r>
              <a:rPr sz="1100" b="0" i="0">
                <a:solidFill>
                  <a:srgbClr val="111111"/>
                </a:solidFill>
                <a:latin typeface="Calibri"/>
              </a:rPr>
              <a:t>category, shelf</a:t>
            </a:r>
          </a:p>
          <a:p>
            <a:pPr algn="l">
              <a:spcAft>
                <a:spcPts val="100"/>
              </a:spcAft>
            </a:pPr>
            <a:r>
              <a:rPr sz="1100" b="0" i="0">
                <a:solidFill>
                  <a:srgbClr val="111111"/>
                </a:solidFill>
                <a:latin typeface="Calibri"/>
              </a:rPr>
              <a:t>total_copies</a:t>
            </a:r>
          </a:p>
          <a:p>
            <a:pPr algn="l">
              <a:spcAft>
                <a:spcPts val="0"/>
              </a:spcAft>
            </a:pPr>
            <a:r>
              <a:rPr sz="1100" b="0" i="0">
                <a:solidFill>
                  <a:srgbClr val="111111"/>
                </a:solidFill>
                <a:latin typeface="Calibri"/>
              </a:rPr>
              <a:t>available_copies</a:t>
            </a:r>
          </a:p>
        </p:txBody>
      </p:sp>
      <p:sp>
        <p:nvSpPr>
          <p:cNvPr id="8" name="Rounded Rectangle 7"/>
          <p:cNvSpPr/>
          <p:nvPr/>
        </p:nvSpPr>
        <p:spPr>
          <a:xfrm>
            <a:off x="4023360" y="1225296"/>
            <a:ext cx="2971800" cy="1645920"/>
          </a:xfrm>
          <a:prstGeom prst="roundRect">
            <a:avLst>
              <a:gd name="adj" fmla="val 6000"/>
            </a:avLst>
          </a:prstGeom>
          <a:solidFill>
            <a:srgbClr val="F4F7FC"/>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t" wrap="square" tIns="64007" bIns="64007"/>
          <a:lstStyle/>
          <a:p>
            <a:pPr algn="ctr">
              <a:spcAft>
                <a:spcPts val="300"/>
              </a:spcAft>
            </a:pPr>
            <a:r>
              <a:rPr sz="1300" b="1" i="0">
                <a:solidFill>
                  <a:srgbClr val="2563EB"/>
                </a:solidFill>
                <a:latin typeface="Calibri"/>
              </a:rPr>
              <a:t>MEMBERS</a:t>
            </a:r>
          </a:p>
          <a:p>
            <a:pPr algn="l">
              <a:spcAft>
                <a:spcPts val="100"/>
              </a:spcAft>
            </a:pPr>
            <a:r>
              <a:rPr sz="1100" b="0" i="0">
                <a:solidFill>
                  <a:srgbClr val="111111"/>
                </a:solidFill>
                <a:latin typeface="Calibri"/>
              </a:rPr>
              <a:t>id                      PK</a:t>
            </a:r>
          </a:p>
          <a:p>
            <a:pPr algn="l">
              <a:spcAft>
                <a:spcPts val="100"/>
              </a:spcAft>
            </a:pPr>
            <a:r>
              <a:rPr sz="1100" b="0" i="0">
                <a:solidFill>
                  <a:srgbClr val="111111"/>
                </a:solidFill>
                <a:latin typeface="Calibri"/>
              </a:rPr>
              <a:t>member_code  UNIQUE</a:t>
            </a:r>
          </a:p>
          <a:p>
            <a:pPr algn="l">
              <a:spcAft>
                <a:spcPts val="100"/>
              </a:spcAft>
            </a:pPr>
            <a:r>
              <a:rPr sz="1100" b="0" i="0">
                <a:solidFill>
                  <a:srgbClr val="111111"/>
                </a:solidFill>
                <a:latin typeface="Calibri"/>
              </a:rPr>
              <a:t>name, email, phone</a:t>
            </a:r>
          </a:p>
          <a:p>
            <a:pPr algn="l">
              <a:spcAft>
                <a:spcPts val="100"/>
              </a:spcAft>
            </a:pPr>
            <a:r>
              <a:rPr sz="1100" b="0" i="0">
                <a:solidFill>
                  <a:srgbClr val="111111"/>
                </a:solidFill>
                <a:latin typeface="Calibri"/>
              </a:rPr>
              <a:t>membership_type</a:t>
            </a:r>
          </a:p>
          <a:p>
            <a:pPr algn="l">
              <a:spcAft>
                <a:spcPts val="100"/>
              </a:spcAft>
            </a:pPr>
            <a:r>
              <a:rPr sz="1100" b="0" i="0">
                <a:solidFill>
                  <a:srgbClr val="111111"/>
                </a:solidFill>
                <a:latin typeface="Calibri"/>
              </a:rPr>
              <a:t>active</a:t>
            </a:r>
          </a:p>
          <a:p>
            <a:pPr algn="l">
              <a:spcAft>
                <a:spcPts val="0"/>
              </a:spcAft>
            </a:pPr>
            <a:r>
              <a:rPr sz="1100" b="0" i="0">
                <a:solidFill>
                  <a:srgbClr val="111111"/>
                </a:solidFill>
                <a:latin typeface="Calibri"/>
              </a:rPr>
              <a:t>max_books</a:t>
            </a:r>
          </a:p>
        </p:txBody>
      </p:sp>
      <p:sp>
        <p:nvSpPr>
          <p:cNvPr id="9" name="Rounded Rectangle 8"/>
          <p:cNvSpPr/>
          <p:nvPr/>
        </p:nvSpPr>
        <p:spPr>
          <a:xfrm>
            <a:off x="2212848" y="3611880"/>
            <a:ext cx="2971800" cy="1901952"/>
          </a:xfrm>
          <a:prstGeom prst="roundRect">
            <a:avLst>
              <a:gd name="adj" fmla="val 6000"/>
            </a:avLst>
          </a:prstGeom>
          <a:solidFill>
            <a:srgbClr val="E8EFFB"/>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t" wrap="square" tIns="64007" bIns="64007"/>
          <a:lstStyle/>
          <a:p>
            <a:pPr algn="ctr">
              <a:spcAft>
                <a:spcPts val="300"/>
              </a:spcAft>
            </a:pPr>
            <a:r>
              <a:rPr sz="1300" b="1" i="0">
                <a:solidFill>
                  <a:srgbClr val="1D4ED8"/>
                </a:solidFill>
                <a:latin typeface="Calibri"/>
              </a:rPr>
              <a:t>LOANS</a:t>
            </a:r>
          </a:p>
          <a:p>
            <a:pPr algn="l">
              <a:spcAft>
                <a:spcPts val="100"/>
              </a:spcAft>
            </a:pPr>
            <a:r>
              <a:rPr sz="1100" b="0" i="0">
                <a:solidFill>
                  <a:srgbClr val="111111"/>
                </a:solidFill>
                <a:latin typeface="Calibri"/>
              </a:rPr>
              <a:t>id                      PK</a:t>
            </a:r>
          </a:p>
          <a:p>
            <a:pPr algn="l">
              <a:spcAft>
                <a:spcPts val="100"/>
              </a:spcAft>
            </a:pPr>
            <a:r>
              <a:rPr sz="1100" b="0" i="0">
                <a:solidFill>
                  <a:srgbClr val="111111"/>
                </a:solidFill>
                <a:latin typeface="Calibri"/>
              </a:rPr>
              <a:t>book_id              FK</a:t>
            </a:r>
          </a:p>
          <a:p>
            <a:pPr algn="l">
              <a:spcAft>
                <a:spcPts val="100"/>
              </a:spcAft>
            </a:pPr>
            <a:r>
              <a:rPr sz="1100" b="0" i="0">
                <a:solidFill>
                  <a:srgbClr val="111111"/>
                </a:solidFill>
                <a:latin typeface="Calibri"/>
              </a:rPr>
              <a:t>member_id         FK</a:t>
            </a:r>
          </a:p>
          <a:p>
            <a:pPr algn="l">
              <a:spcAft>
                <a:spcPts val="100"/>
              </a:spcAft>
            </a:pPr>
            <a:r>
              <a:rPr sz="1100" b="0" i="0">
                <a:solidFill>
                  <a:srgbClr val="111111"/>
                </a:solidFill>
                <a:latin typeface="Calibri"/>
              </a:rPr>
              <a:t>issue_date, due_date</a:t>
            </a:r>
          </a:p>
          <a:p>
            <a:pPr algn="l">
              <a:spcAft>
                <a:spcPts val="100"/>
              </a:spcAft>
            </a:pPr>
            <a:r>
              <a:rPr sz="1100" b="0" i="0">
                <a:solidFill>
                  <a:srgbClr val="111111"/>
                </a:solidFill>
                <a:latin typeface="Calibri"/>
              </a:rPr>
              <a:t>return_date</a:t>
            </a:r>
          </a:p>
          <a:p>
            <a:pPr algn="l">
              <a:spcAft>
                <a:spcPts val="100"/>
              </a:spcAft>
            </a:pPr>
            <a:r>
              <a:rPr sz="1100" b="0" i="0">
                <a:solidFill>
                  <a:srgbClr val="111111"/>
                </a:solidFill>
                <a:latin typeface="Calibri"/>
              </a:rPr>
              <a:t>renewals</a:t>
            </a:r>
          </a:p>
          <a:p>
            <a:pPr algn="l">
              <a:spcAft>
                <a:spcPts val="0"/>
              </a:spcAft>
            </a:pPr>
            <a:r>
              <a:rPr sz="1100" b="0" i="0">
                <a:solidFill>
                  <a:srgbClr val="111111"/>
                </a:solidFill>
                <a:latin typeface="Calibri"/>
              </a:rPr>
              <a:t>fine, fine_paid</a:t>
            </a:r>
          </a:p>
        </p:txBody>
      </p:sp>
      <p:sp>
        <p:nvSpPr>
          <p:cNvPr id="10" name="Rounded Rectangle 9"/>
          <p:cNvSpPr/>
          <p:nvPr/>
        </p:nvSpPr>
        <p:spPr>
          <a:xfrm>
            <a:off x="411480" y="3611880"/>
            <a:ext cx="1572768" cy="987552"/>
          </a:xfrm>
          <a:prstGeom prst="roundRect">
            <a:avLst>
              <a:gd name="adj" fmla="val 6000"/>
            </a:avLst>
          </a:prstGeom>
          <a:solidFill>
            <a:srgbClr val="FFFFFF"/>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t" wrap="square" tIns="64007" bIns="64007"/>
          <a:lstStyle/>
          <a:p>
            <a:pPr algn="ctr">
              <a:spcAft>
                <a:spcPts val="300"/>
              </a:spcAft>
            </a:pPr>
            <a:r>
              <a:rPr sz="1200" b="1" i="0">
                <a:solidFill>
                  <a:srgbClr val="6B7280"/>
                </a:solidFill>
                <a:latin typeface="Calibri"/>
              </a:rPr>
              <a:t>SETTINGS</a:t>
            </a:r>
          </a:p>
          <a:p>
            <a:pPr algn="l">
              <a:spcAft>
                <a:spcPts val="100"/>
              </a:spcAft>
            </a:pPr>
            <a:r>
              <a:rPr sz="1050" b="0" i="0">
                <a:solidFill>
                  <a:srgbClr val="111111"/>
                </a:solidFill>
                <a:latin typeface="Calibri"/>
              </a:rPr>
              <a:t>key              PK</a:t>
            </a:r>
          </a:p>
          <a:p>
            <a:pPr algn="l">
              <a:spcAft>
                <a:spcPts val="0"/>
              </a:spcAft>
            </a:pPr>
            <a:r>
              <a:rPr sz="1050" b="0" i="0">
                <a:solidFill>
                  <a:srgbClr val="111111"/>
                </a:solidFill>
                <a:latin typeface="Calibri"/>
              </a:rPr>
              <a:t>value</a:t>
            </a:r>
          </a:p>
        </p:txBody>
      </p:sp>
      <p:cxnSp>
        <p:nvCxnSpPr>
          <p:cNvPr id="11" name="Connector 10"/>
          <p:cNvCxnSpPr/>
          <p:nvPr/>
        </p:nvCxnSpPr>
        <p:spPr>
          <a:xfrm>
            <a:off x="1892807" y="2871216"/>
            <a:ext cx="1216153" cy="740664"/>
          </a:xfrm>
          <a:prstGeom prst="line">
            <a:avLst/>
          </a:prstGeom>
          <a:ln w="1905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48640" y="3090672"/>
            <a:ext cx="1234440" cy="274320"/>
          </a:xfrm>
          <a:prstGeom prst="rect">
            <a:avLst/>
          </a:prstGeom>
          <a:noFill/>
        </p:spPr>
        <p:txBody>
          <a:bodyPr wrap="square" anchor="t" lIns="0" rIns="0" tIns="0" bIns="0">
            <a:spAutoFit/>
          </a:bodyPr>
          <a:lstStyle/>
          <a:p>
            <a:pPr algn="r">
              <a:spcAft>
                <a:spcPts val="0"/>
              </a:spcAft>
            </a:pPr>
            <a:r>
              <a:rPr sz="1050" b="1" i="0">
                <a:solidFill>
                  <a:srgbClr val="2563EB"/>
                </a:solidFill>
                <a:latin typeface="Calibri"/>
              </a:rPr>
              <a:t>1 : many</a:t>
            </a:r>
          </a:p>
        </p:txBody>
      </p:sp>
      <p:cxnSp>
        <p:nvCxnSpPr>
          <p:cNvPr id="13" name="Connector 12"/>
          <p:cNvCxnSpPr/>
          <p:nvPr/>
        </p:nvCxnSpPr>
        <p:spPr>
          <a:xfrm flipH="1">
            <a:off x="4297680" y="2871216"/>
            <a:ext cx="1207008" cy="740664"/>
          </a:xfrm>
          <a:prstGeom prst="line">
            <a:avLst/>
          </a:prstGeom>
          <a:ln w="1905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669280" y="3090672"/>
            <a:ext cx="1234440" cy="274320"/>
          </a:xfrm>
          <a:prstGeom prst="rect">
            <a:avLst/>
          </a:prstGeom>
          <a:noFill/>
        </p:spPr>
        <p:txBody>
          <a:bodyPr wrap="square" anchor="t" lIns="0" rIns="0" tIns="0" bIns="0">
            <a:spAutoFit/>
          </a:bodyPr>
          <a:lstStyle/>
          <a:p>
            <a:pPr algn="l">
              <a:spcAft>
                <a:spcPts val="0"/>
              </a:spcAft>
            </a:pPr>
            <a:r>
              <a:rPr sz="1050" b="1" i="0">
                <a:solidFill>
                  <a:srgbClr val="2563EB"/>
                </a:solidFill>
                <a:latin typeface="Calibri"/>
              </a:rPr>
              <a:t>1 : many</a:t>
            </a:r>
          </a:p>
        </p:txBody>
      </p:sp>
      <p:sp>
        <p:nvSpPr>
          <p:cNvPr id="15" name="TextBox 14"/>
          <p:cNvSpPr txBox="1"/>
          <p:nvPr/>
        </p:nvSpPr>
        <p:spPr>
          <a:xfrm>
            <a:off x="411480" y="5724144"/>
            <a:ext cx="6583680" cy="274320"/>
          </a:xfrm>
          <a:prstGeom prst="rect">
            <a:avLst/>
          </a:prstGeom>
          <a:noFill/>
        </p:spPr>
        <p:txBody>
          <a:bodyPr wrap="square" anchor="t" lIns="0" rIns="0" tIns="0" bIns="0">
            <a:spAutoFit/>
          </a:bodyPr>
          <a:lstStyle/>
          <a:p>
            <a:pPr algn="ctr">
              <a:spcAft>
                <a:spcPts val="0"/>
              </a:spcAft>
            </a:pPr>
            <a:r>
              <a:rPr sz="1100" b="0" i="1">
                <a:solidFill>
                  <a:srgbClr val="6B7280"/>
                </a:solidFill>
                <a:latin typeface="Calibri"/>
              </a:rPr>
              <a:t>A loan is the relationship between a book and a member, made into a table of its own</a:t>
            </a:r>
          </a:p>
        </p:txBody>
      </p:sp>
      <p:sp>
        <p:nvSpPr>
          <p:cNvPr id="16" name="TextBox 15"/>
          <p:cNvSpPr txBox="1"/>
          <p:nvPr/>
        </p:nvSpPr>
        <p:spPr>
          <a:xfrm>
            <a:off x="7269480" y="1225296"/>
            <a:ext cx="4544568" cy="274320"/>
          </a:xfrm>
          <a:prstGeom prst="rect">
            <a:avLst/>
          </a:prstGeom>
          <a:noFill/>
        </p:spPr>
        <p:txBody>
          <a:bodyPr wrap="square" anchor="t" lIns="0" rIns="0" tIns="0" bIns="0">
            <a:spAutoFit/>
          </a:bodyPr>
          <a:lstStyle/>
          <a:p>
            <a:pPr algn="l">
              <a:spcAft>
                <a:spcPts val="0"/>
              </a:spcAft>
            </a:pPr>
            <a:r>
              <a:rPr sz="1500" b="1" i="0">
                <a:solidFill>
                  <a:srgbClr val="13233A"/>
                </a:solidFill>
                <a:latin typeface="Calibri"/>
              </a:rPr>
              <a:t>Design decisions</a:t>
            </a:r>
          </a:p>
        </p:txBody>
      </p:sp>
      <p:sp>
        <p:nvSpPr>
          <p:cNvPr id="17" name="Oval 16"/>
          <p:cNvSpPr/>
          <p:nvPr/>
        </p:nvSpPr>
        <p:spPr>
          <a:xfrm>
            <a:off x="7269480" y="1696212"/>
            <a:ext cx="137160" cy="13716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34656" y="1627632"/>
            <a:ext cx="4279392" cy="822960"/>
          </a:xfrm>
          <a:prstGeom prst="rect">
            <a:avLst/>
          </a:prstGeom>
          <a:noFill/>
        </p:spPr>
        <p:txBody>
          <a:bodyPr wrap="square" anchor="t" lIns="0" rIns="0" tIns="0" bIns="0">
            <a:spAutoFit/>
          </a:bodyPr>
          <a:lstStyle/>
          <a:p>
            <a:pPr algn="l">
              <a:spcAft>
                <a:spcPts val="0"/>
              </a:spcAft>
            </a:pPr>
            <a:r>
              <a:rPr sz="1200" b="0" i="0">
                <a:solidFill>
                  <a:srgbClr val="111111"/>
                </a:solidFill>
                <a:latin typeface="Calibri"/>
              </a:rPr>
              <a:t>Two real things — books and members. Lending is many-to-many, resolved through loans.</a:t>
            </a:r>
          </a:p>
        </p:txBody>
      </p:sp>
      <p:sp>
        <p:nvSpPr>
          <p:cNvPr id="19" name="Oval 18"/>
          <p:cNvSpPr/>
          <p:nvPr/>
        </p:nvSpPr>
        <p:spPr>
          <a:xfrm>
            <a:off x="7269480" y="2519172"/>
            <a:ext cx="137160" cy="13716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34656" y="2450592"/>
            <a:ext cx="4279392" cy="822960"/>
          </a:xfrm>
          <a:prstGeom prst="rect">
            <a:avLst/>
          </a:prstGeom>
          <a:noFill/>
        </p:spPr>
        <p:txBody>
          <a:bodyPr wrap="square" anchor="t" lIns="0" rIns="0" tIns="0" bIns="0">
            <a:spAutoFit/>
          </a:bodyPr>
          <a:lstStyle/>
          <a:p>
            <a:pPr algn="l">
              <a:spcAft>
                <a:spcPts val="0"/>
              </a:spcAft>
            </a:pPr>
            <a:r>
              <a:rPr sz="1200" b="0" i="0">
                <a:solidFill>
                  <a:srgbClr val="111111"/>
                </a:solidFill>
                <a:latin typeface="Calibri"/>
              </a:rPr>
              <a:t>A loan carries its own data (out, due, returned, fine), so it is a table, not just a link.</a:t>
            </a:r>
          </a:p>
        </p:txBody>
      </p:sp>
      <p:sp>
        <p:nvSpPr>
          <p:cNvPr id="21" name="Oval 20"/>
          <p:cNvSpPr/>
          <p:nvPr/>
        </p:nvSpPr>
        <p:spPr>
          <a:xfrm>
            <a:off x="7269480" y="3342132"/>
            <a:ext cx="137160" cy="13716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34656" y="3273552"/>
            <a:ext cx="4279392" cy="822960"/>
          </a:xfrm>
          <a:prstGeom prst="rect">
            <a:avLst/>
          </a:prstGeom>
          <a:noFill/>
        </p:spPr>
        <p:txBody>
          <a:bodyPr wrap="square" anchor="t" lIns="0" rIns="0" tIns="0" bIns="0">
            <a:spAutoFit/>
          </a:bodyPr>
          <a:lstStyle/>
          <a:p>
            <a:pPr algn="l">
              <a:spcAft>
                <a:spcPts val="0"/>
              </a:spcAft>
            </a:pPr>
            <a:r>
              <a:rPr sz="1200" b="0" i="0">
                <a:solidFill>
                  <a:srgbClr val="111111"/>
                </a:solidFill>
                <a:latin typeface="Calibri"/>
              </a:rPr>
              <a:t>return_date empty means the book is still out. That single test drives the dashboard, the overdue list and the delete block.</a:t>
            </a:r>
          </a:p>
        </p:txBody>
      </p:sp>
      <p:sp>
        <p:nvSpPr>
          <p:cNvPr id="23" name="Oval 22"/>
          <p:cNvSpPr/>
          <p:nvPr/>
        </p:nvSpPr>
        <p:spPr>
          <a:xfrm>
            <a:off x="7269480" y="4165092"/>
            <a:ext cx="137160" cy="13716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34656" y="4096512"/>
            <a:ext cx="4279392" cy="822960"/>
          </a:xfrm>
          <a:prstGeom prst="rect">
            <a:avLst/>
          </a:prstGeom>
          <a:noFill/>
        </p:spPr>
        <p:txBody>
          <a:bodyPr wrap="square" anchor="t" lIns="0" rIns="0" tIns="0" bIns="0">
            <a:spAutoFit/>
          </a:bodyPr>
          <a:lstStyle/>
          <a:p>
            <a:pPr algn="l">
              <a:spcAft>
                <a:spcPts val="0"/>
              </a:spcAft>
            </a:pPr>
            <a:r>
              <a:rPr sz="1200" b="0" i="0">
                <a:solidFill>
                  <a:srgbClr val="111111"/>
                </a:solidFill>
                <a:latin typeface="Calibri"/>
              </a:rPr>
              <a:t>available_copies is stored and moved by one on each issue and return — guarded by a CHECK constraint and a transaction.</a:t>
            </a:r>
          </a:p>
        </p:txBody>
      </p:sp>
      <p:sp>
        <p:nvSpPr>
          <p:cNvPr id="25" name="Oval 24"/>
          <p:cNvSpPr/>
          <p:nvPr/>
        </p:nvSpPr>
        <p:spPr>
          <a:xfrm>
            <a:off x="7269480" y="4988052"/>
            <a:ext cx="137160" cy="13716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34656" y="4919472"/>
            <a:ext cx="4279392" cy="822960"/>
          </a:xfrm>
          <a:prstGeom prst="rect">
            <a:avLst/>
          </a:prstGeom>
          <a:noFill/>
        </p:spPr>
        <p:txBody>
          <a:bodyPr wrap="square" anchor="t" lIns="0" rIns="0" tIns="0" bIns="0">
            <a:spAutoFit/>
          </a:bodyPr>
          <a:lstStyle/>
          <a:p>
            <a:pPr algn="l">
              <a:spcAft>
                <a:spcPts val="0"/>
              </a:spcAft>
            </a:pPr>
            <a:r>
              <a:rPr sz="1200" b="0" i="0">
                <a:solidFill>
                  <a:srgbClr val="111111"/>
                </a:solidFill>
                <a:latin typeface="Calibri"/>
              </a:rPr>
              <a:t>settings is key–value, so a new setting is a new row rather than a change to the schema.</a:t>
            </a:r>
          </a:p>
        </p:txBody>
      </p:sp>
      <p:sp>
        <p:nvSpPr>
          <p:cNvPr id="27" name="Oval 26"/>
          <p:cNvSpPr/>
          <p:nvPr/>
        </p:nvSpPr>
        <p:spPr>
          <a:xfrm>
            <a:off x="7269480" y="5811012"/>
            <a:ext cx="137160" cy="13716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34656" y="5742432"/>
            <a:ext cx="4279392" cy="822960"/>
          </a:xfrm>
          <a:prstGeom prst="rect">
            <a:avLst/>
          </a:prstGeom>
          <a:noFill/>
        </p:spPr>
        <p:txBody>
          <a:bodyPr wrap="square" anchor="t" lIns="0" rIns="0" tIns="0" bIns="0">
            <a:spAutoFit/>
          </a:bodyPr>
          <a:lstStyle/>
          <a:p>
            <a:pPr algn="l">
              <a:spcAft>
                <a:spcPts val="0"/>
              </a:spcAft>
            </a:pPr>
            <a:r>
              <a:rPr sz="1200" b="0" i="0">
                <a:solidFill>
                  <a:srgbClr val="111111"/>
                </a:solidFill>
                <a:latin typeface="Calibri"/>
              </a:rPr>
              <a:t>Five indexes cover the searches the app runs constantly.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69264" cy="1097280"/>
          </a:xfrm>
          <a:prstGeom prst="rect">
            <a:avLst/>
          </a:prstGeom>
        </p:spPr>
      </p:pic>
      <p:sp>
        <p:nvSpPr>
          <p:cNvPr id="3" name="TextBox 2"/>
          <p:cNvSpPr txBox="1"/>
          <p:nvPr/>
        </p:nvSpPr>
        <p:spPr>
          <a:xfrm>
            <a:off x="1097280" y="109728"/>
            <a:ext cx="9994392" cy="777240"/>
          </a:xfrm>
          <a:prstGeom prst="rect">
            <a:avLst/>
          </a:prstGeom>
          <a:noFill/>
        </p:spPr>
        <p:txBody>
          <a:bodyPr wrap="square" anchor="ctr">
            <a:spAutoFit/>
          </a:bodyPr>
          <a:lstStyle/>
          <a:p>
            <a:pPr algn="ctr"/>
            <a:r>
              <a:rPr sz="3200">
                <a:solidFill>
                  <a:srgbClr val="111111"/>
                </a:solidFill>
                <a:latin typeface="Calibri"/>
              </a:rPr>
              <a:t>Features and Business Rules</a:t>
            </a:r>
          </a:p>
        </p:txBody>
      </p:sp>
      <p:sp>
        <p:nvSpPr>
          <p:cNvPr id="4" name="Rectangle 3"/>
          <p:cNvSpPr/>
          <p:nvPr/>
        </p:nvSpPr>
        <p:spPr>
          <a:xfrm>
            <a:off x="0" y="6510528"/>
            <a:ext cx="12188952" cy="347472"/>
          </a:xfrm>
          <a:prstGeom prst="rect">
            <a:avLst/>
          </a:prstGeom>
          <a:solidFill>
            <a:srgbClr val="43A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510528"/>
            <a:ext cx="10908792" cy="347472"/>
          </a:xfrm>
          <a:prstGeom prst="rect">
            <a:avLst/>
          </a:prstGeom>
          <a:noFill/>
        </p:spPr>
        <p:txBody>
          <a:bodyPr wrap="square" anchor="ctr">
            <a:spAutoFit/>
          </a:bodyPr>
          <a:lstStyle/>
          <a:p>
            <a:pPr algn="ctr"/>
            <a:r>
              <a:rPr sz="1300" b="1">
                <a:solidFill>
                  <a:srgbClr val="111111"/>
                </a:solidFill>
                <a:latin typeface="Calibri"/>
              </a:rPr>
              <a:t>Department of CSE-IOTCSBT, Vishwakarma Institute of Technology, Pune-37</a:t>
            </a:r>
          </a:p>
        </p:txBody>
      </p:sp>
      <p:sp>
        <p:nvSpPr>
          <p:cNvPr id="6" name="TextBox 5"/>
          <p:cNvSpPr txBox="1"/>
          <p:nvPr/>
        </p:nvSpPr>
        <p:spPr>
          <a:xfrm>
            <a:off x="11365992" y="6510528"/>
            <a:ext cx="640080" cy="347472"/>
          </a:xfrm>
          <a:prstGeom prst="rect">
            <a:avLst/>
          </a:prstGeom>
          <a:noFill/>
        </p:spPr>
        <p:txBody>
          <a:bodyPr wrap="none" anchor="ctr">
            <a:spAutoFit/>
          </a:bodyPr>
          <a:lstStyle/>
          <a:p>
            <a:pPr algn="r"/>
            <a:r>
              <a:rPr sz="1200" b="1">
                <a:solidFill>
                  <a:srgbClr val="111111"/>
                </a:solidFill>
                <a:latin typeface="Calibri"/>
              </a:rPr>
              <a:t>8</a:t>
            </a:r>
          </a:p>
        </p:txBody>
      </p:sp>
      <p:sp>
        <p:nvSpPr>
          <p:cNvPr id="7" name="TextBox 6"/>
          <p:cNvSpPr txBox="1"/>
          <p:nvPr/>
        </p:nvSpPr>
        <p:spPr>
          <a:xfrm>
            <a:off x="411480" y="1170432"/>
            <a:ext cx="6446520" cy="274320"/>
          </a:xfrm>
          <a:prstGeom prst="rect">
            <a:avLst/>
          </a:prstGeom>
          <a:noFill/>
        </p:spPr>
        <p:txBody>
          <a:bodyPr wrap="square" anchor="t" lIns="0" rIns="0" tIns="0" bIns="0">
            <a:spAutoFit/>
          </a:bodyPr>
          <a:lstStyle/>
          <a:p>
            <a:pPr algn="l">
              <a:spcAft>
                <a:spcPts val="200"/>
              </a:spcAft>
            </a:pPr>
            <a:r>
              <a:rPr sz="1500" b="1" i="0">
                <a:solidFill>
                  <a:srgbClr val="13233A"/>
                </a:solidFill>
                <a:latin typeface="Calibri"/>
              </a:rPr>
              <a:t>Rules the system enforces</a:t>
            </a:r>
          </a:p>
        </p:txBody>
      </p:sp>
      <p:sp>
        <p:nvSpPr>
          <p:cNvPr id="8" name="TextBox 7"/>
          <p:cNvSpPr txBox="1"/>
          <p:nvPr/>
        </p:nvSpPr>
        <p:spPr>
          <a:xfrm>
            <a:off x="411480" y="1481328"/>
            <a:ext cx="6446520" cy="274320"/>
          </a:xfrm>
          <a:prstGeom prst="rect">
            <a:avLst/>
          </a:prstGeom>
          <a:noFill/>
        </p:spPr>
        <p:txBody>
          <a:bodyPr wrap="square" anchor="t" lIns="0" rIns="0" tIns="0" bIns="0">
            <a:spAutoFit/>
          </a:bodyPr>
          <a:lstStyle/>
          <a:p>
            <a:pPr algn="l">
              <a:spcAft>
                <a:spcPts val="0"/>
              </a:spcAft>
            </a:pPr>
            <a:r>
              <a:rPr sz="1150" b="0" i="1">
                <a:solidFill>
                  <a:srgbClr val="6B7280"/>
                </a:solidFill>
                <a:latin typeface="Calibri"/>
              </a:rPr>
              <a:t>Every one is checked in the data layer, so no screen can get around them.</a:t>
            </a:r>
          </a:p>
        </p:txBody>
      </p:sp>
      <p:sp>
        <p:nvSpPr>
          <p:cNvPr id="9" name="Oval 8"/>
          <p:cNvSpPr/>
          <p:nvPr/>
        </p:nvSpPr>
        <p:spPr>
          <a:xfrm>
            <a:off x="411480" y="1947672"/>
            <a:ext cx="155448" cy="155448"/>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1883664"/>
            <a:ext cx="6181344" cy="530352"/>
          </a:xfrm>
          <a:prstGeom prst="rect">
            <a:avLst/>
          </a:prstGeom>
          <a:noFill/>
        </p:spPr>
        <p:txBody>
          <a:bodyPr wrap="square" anchor="t" lIns="0" rIns="0" tIns="0" bIns="0">
            <a:spAutoFit/>
          </a:bodyPr>
          <a:lstStyle/>
          <a:p>
            <a:pPr algn="l">
              <a:spcAft>
                <a:spcPts val="0"/>
              </a:spcAft>
            </a:pPr>
            <a:r>
              <a:rPr sz="1250" b="1" i="0">
                <a:solidFill>
                  <a:srgbClr val="13233A"/>
                </a:solidFill>
                <a:latin typeface="Calibri"/>
              </a:rPr>
              <a:t>A copy must be on the shelf.</a:t>
            </a:r>
          </a:p>
          <a:p>
            <a:pPr algn="l">
              <a:lnSpc>
                <a:spcPct val="100000"/>
              </a:lnSpc>
              <a:spcAft>
                <a:spcPts val="0"/>
              </a:spcAft>
            </a:pPr>
            <a:r>
              <a:rPr sz="1150" b="0" i="0">
                <a:solidFill>
                  <a:srgbClr val="6B7280"/>
                </a:solidFill>
                <a:latin typeface="Calibri"/>
              </a:rPr>
              <a:t>Own three copies, all three out — the next person waits.</a:t>
            </a:r>
          </a:p>
        </p:txBody>
      </p:sp>
      <p:sp>
        <p:nvSpPr>
          <p:cNvPr id="11" name="Oval 10"/>
          <p:cNvSpPr/>
          <p:nvPr/>
        </p:nvSpPr>
        <p:spPr>
          <a:xfrm>
            <a:off x="411480" y="2514600"/>
            <a:ext cx="155448" cy="155448"/>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 y="2450592"/>
            <a:ext cx="6181344" cy="530352"/>
          </a:xfrm>
          <a:prstGeom prst="rect">
            <a:avLst/>
          </a:prstGeom>
          <a:noFill/>
        </p:spPr>
        <p:txBody>
          <a:bodyPr wrap="square" anchor="t" lIns="0" rIns="0" tIns="0" bIns="0">
            <a:spAutoFit/>
          </a:bodyPr>
          <a:lstStyle/>
          <a:p>
            <a:pPr algn="l">
              <a:spcAft>
                <a:spcPts val="0"/>
              </a:spcAft>
            </a:pPr>
            <a:r>
              <a:rPr sz="1250" b="1" i="0">
                <a:solidFill>
                  <a:srgbClr val="13233A"/>
                </a:solidFill>
                <a:latin typeface="Calibri"/>
              </a:rPr>
              <a:t>One copy per person per title.</a:t>
            </a:r>
          </a:p>
          <a:p>
            <a:pPr algn="l">
              <a:lnSpc>
                <a:spcPct val="100000"/>
              </a:lnSpc>
              <a:spcAft>
                <a:spcPts val="0"/>
              </a:spcAft>
            </a:pPr>
            <a:r>
              <a:rPr sz="1150" b="0" i="0">
                <a:solidFill>
                  <a:srgbClr val="6B7280"/>
                </a:solidFill>
                <a:latin typeface="Calibri"/>
              </a:rPr>
              <a:t>The same member cannot hold two copies of one book.</a:t>
            </a:r>
          </a:p>
        </p:txBody>
      </p:sp>
      <p:sp>
        <p:nvSpPr>
          <p:cNvPr id="13" name="Oval 12"/>
          <p:cNvSpPr/>
          <p:nvPr/>
        </p:nvSpPr>
        <p:spPr>
          <a:xfrm>
            <a:off x="411480" y="3081528"/>
            <a:ext cx="155448" cy="155448"/>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6" y="3017520"/>
            <a:ext cx="6181344" cy="530352"/>
          </a:xfrm>
          <a:prstGeom prst="rect">
            <a:avLst/>
          </a:prstGeom>
          <a:noFill/>
        </p:spPr>
        <p:txBody>
          <a:bodyPr wrap="square" anchor="t" lIns="0" rIns="0" tIns="0" bIns="0">
            <a:spAutoFit/>
          </a:bodyPr>
          <a:lstStyle/>
          <a:p>
            <a:pPr algn="l">
              <a:spcAft>
                <a:spcPts val="0"/>
              </a:spcAft>
            </a:pPr>
            <a:r>
              <a:rPr sz="1250" b="1" i="0">
                <a:solidFill>
                  <a:srgbClr val="13233A"/>
                </a:solidFill>
                <a:latin typeface="Calibri"/>
              </a:rPr>
              <a:t>Everyone has a limit.</a:t>
            </a:r>
          </a:p>
          <a:p>
            <a:pPr algn="l">
              <a:lnSpc>
                <a:spcPct val="100000"/>
              </a:lnSpc>
              <a:spcAft>
                <a:spcPts val="0"/>
              </a:spcAft>
            </a:pPr>
            <a:r>
              <a:rPr sz="1150" b="0" i="0">
                <a:solidFill>
                  <a:srgbClr val="6B7280"/>
                </a:solidFill>
                <a:latin typeface="Calibri"/>
              </a:rPr>
              <a:t>Student 3 · Teacher 6 · Staff 5 · Public 2, overridable per member.</a:t>
            </a:r>
          </a:p>
        </p:txBody>
      </p:sp>
      <p:sp>
        <p:nvSpPr>
          <p:cNvPr id="15" name="Oval 14"/>
          <p:cNvSpPr/>
          <p:nvPr/>
        </p:nvSpPr>
        <p:spPr>
          <a:xfrm>
            <a:off x="411480" y="3648456"/>
            <a:ext cx="155448" cy="155448"/>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 y="3584448"/>
            <a:ext cx="6181344" cy="530352"/>
          </a:xfrm>
          <a:prstGeom prst="rect">
            <a:avLst/>
          </a:prstGeom>
          <a:noFill/>
        </p:spPr>
        <p:txBody>
          <a:bodyPr wrap="square" anchor="t" lIns="0" rIns="0" tIns="0" bIns="0">
            <a:spAutoFit/>
          </a:bodyPr>
          <a:lstStyle/>
          <a:p>
            <a:pPr algn="l">
              <a:spcAft>
                <a:spcPts val="0"/>
              </a:spcAft>
            </a:pPr>
            <a:r>
              <a:rPr sz="1250" b="1" i="0">
                <a:solidFill>
                  <a:srgbClr val="13233A"/>
                </a:solidFill>
                <a:latin typeface="Calibri"/>
              </a:rPr>
              <a:t>Overdue books block new loans.</a:t>
            </a:r>
          </a:p>
          <a:p>
            <a:pPr algn="l">
              <a:lnSpc>
                <a:spcPct val="100000"/>
              </a:lnSpc>
              <a:spcAft>
                <a:spcPts val="0"/>
              </a:spcAft>
            </a:pPr>
            <a:r>
              <a:rPr sz="1150" b="0" i="0">
                <a:solidFill>
                  <a:srgbClr val="6B7280"/>
                </a:solidFill>
                <a:latin typeface="Calibri"/>
              </a:rPr>
              <a:t>Nothing new until what is late is sorted out.</a:t>
            </a:r>
          </a:p>
        </p:txBody>
      </p:sp>
      <p:sp>
        <p:nvSpPr>
          <p:cNvPr id="17" name="Oval 16"/>
          <p:cNvSpPr/>
          <p:nvPr/>
        </p:nvSpPr>
        <p:spPr>
          <a:xfrm>
            <a:off x="411480" y="4215384"/>
            <a:ext cx="155448" cy="155448"/>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 y="4151376"/>
            <a:ext cx="6181344" cy="530352"/>
          </a:xfrm>
          <a:prstGeom prst="rect">
            <a:avLst/>
          </a:prstGeom>
          <a:noFill/>
        </p:spPr>
        <p:txBody>
          <a:bodyPr wrap="square" anchor="t" lIns="0" rIns="0" tIns="0" bIns="0">
            <a:spAutoFit/>
          </a:bodyPr>
          <a:lstStyle/>
          <a:p>
            <a:pPr algn="l">
              <a:spcAft>
                <a:spcPts val="0"/>
              </a:spcAft>
            </a:pPr>
            <a:r>
              <a:rPr sz="1250" b="1" i="0">
                <a:solidFill>
                  <a:srgbClr val="13233A"/>
                </a:solidFill>
                <a:latin typeface="Calibri"/>
              </a:rPr>
              <a:t>Inactive members cannot borrow.</a:t>
            </a:r>
          </a:p>
          <a:p>
            <a:pPr algn="l">
              <a:lnSpc>
                <a:spcPct val="100000"/>
              </a:lnSpc>
              <a:spcAft>
                <a:spcPts val="0"/>
              </a:spcAft>
            </a:pPr>
            <a:r>
              <a:rPr sz="1150" b="0" i="0">
                <a:solidFill>
                  <a:srgbClr val="6B7280"/>
                </a:solidFill>
                <a:latin typeface="Calibri"/>
              </a:rPr>
              <a:t>Suspend someone without deleting their history.</a:t>
            </a:r>
          </a:p>
        </p:txBody>
      </p:sp>
      <p:sp>
        <p:nvSpPr>
          <p:cNvPr id="19" name="Oval 18"/>
          <p:cNvSpPr/>
          <p:nvPr/>
        </p:nvSpPr>
        <p:spPr>
          <a:xfrm>
            <a:off x="411480" y="4782312"/>
            <a:ext cx="155448" cy="155448"/>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 y="4718304"/>
            <a:ext cx="6181344" cy="530352"/>
          </a:xfrm>
          <a:prstGeom prst="rect">
            <a:avLst/>
          </a:prstGeom>
          <a:noFill/>
        </p:spPr>
        <p:txBody>
          <a:bodyPr wrap="square" anchor="t" lIns="0" rIns="0" tIns="0" bIns="0">
            <a:spAutoFit/>
          </a:bodyPr>
          <a:lstStyle/>
          <a:p>
            <a:pPr algn="l">
              <a:spcAft>
                <a:spcPts val="0"/>
              </a:spcAft>
            </a:pPr>
            <a:r>
              <a:rPr sz="1250" b="1" i="0">
                <a:solidFill>
                  <a:srgbClr val="13233A"/>
                </a:solidFill>
                <a:latin typeface="Calibri"/>
              </a:rPr>
              <a:t>A loan may be renewed twice.</a:t>
            </a:r>
          </a:p>
          <a:p>
            <a:pPr algn="l">
              <a:lnSpc>
                <a:spcPct val="100000"/>
              </a:lnSpc>
              <a:spcAft>
                <a:spcPts val="0"/>
              </a:spcAft>
            </a:pPr>
            <a:r>
              <a:rPr sz="1150" b="0" i="0">
                <a:solidFill>
                  <a:srgbClr val="6B7280"/>
                </a:solidFill>
                <a:latin typeface="Calibri"/>
              </a:rPr>
              <a:t>And only while it is not already overdue.</a:t>
            </a:r>
          </a:p>
        </p:txBody>
      </p:sp>
      <p:sp>
        <p:nvSpPr>
          <p:cNvPr id="21" name="Oval 20"/>
          <p:cNvSpPr/>
          <p:nvPr/>
        </p:nvSpPr>
        <p:spPr>
          <a:xfrm>
            <a:off x="411480" y="5349240"/>
            <a:ext cx="155448" cy="155448"/>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6656" y="5285232"/>
            <a:ext cx="6181344" cy="530352"/>
          </a:xfrm>
          <a:prstGeom prst="rect">
            <a:avLst/>
          </a:prstGeom>
          <a:noFill/>
        </p:spPr>
        <p:txBody>
          <a:bodyPr wrap="square" anchor="t" lIns="0" rIns="0" tIns="0" bIns="0">
            <a:spAutoFit/>
          </a:bodyPr>
          <a:lstStyle/>
          <a:p>
            <a:pPr algn="l">
              <a:spcAft>
                <a:spcPts val="0"/>
              </a:spcAft>
            </a:pPr>
            <a:r>
              <a:rPr sz="1250" b="1" i="0">
                <a:solidFill>
                  <a:srgbClr val="13233A"/>
                </a:solidFill>
                <a:latin typeface="Calibri"/>
              </a:rPr>
              <a:t>Nothing in use can be deleted.</a:t>
            </a:r>
          </a:p>
          <a:p>
            <a:pPr algn="l">
              <a:lnSpc>
                <a:spcPct val="100000"/>
              </a:lnSpc>
              <a:spcAft>
                <a:spcPts val="0"/>
              </a:spcAft>
            </a:pPr>
            <a:r>
              <a:rPr sz="1150" b="0" i="0">
                <a:solidFill>
                  <a:srgbClr val="6B7280"/>
                </a:solidFill>
                <a:latin typeface="Calibri"/>
              </a:rPr>
              <a:t>A book or member with an open loan stays put.</a:t>
            </a:r>
          </a:p>
        </p:txBody>
      </p:sp>
      <p:sp>
        <p:nvSpPr>
          <p:cNvPr id="23" name="Oval 22"/>
          <p:cNvSpPr/>
          <p:nvPr/>
        </p:nvSpPr>
        <p:spPr>
          <a:xfrm>
            <a:off x="411480" y="5916168"/>
            <a:ext cx="155448" cy="155448"/>
          </a:xfrm>
          <a:prstGeom prst="ellipse">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 y="5852160"/>
            <a:ext cx="6181344" cy="530352"/>
          </a:xfrm>
          <a:prstGeom prst="rect">
            <a:avLst/>
          </a:prstGeom>
          <a:noFill/>
        </p:spPr>
        <p:txBody>
          <a:bodyPr wrap="square" anchor="t" lIns="0" rIns="0" tIns="0" bIns="0">
            <a:spAutoFit/>
          </a:bodyPr>
          <a:lstStyle/>
          <a:p>
            <a:pPr algn="l">
              <a:spcAft>
                <a:spcPts val="0"/>
              </a:spcAft>
            </a:pPr>
            <a:r>
              <a:rPr sz="1250" b="1" i="0">
                <a:solidFill>
                  <a:srgbClr val="13233A"/>
                </a:solidFill>
                <a:latin typeface="Calibri"/>
              </a:rPr>
              <a:t>Every change is one transaction.</a:t>
            </a:r>
          </a:p>
          <a:p>
            <a:pPr algn="l">
              <a:lnSpc>
                <a:spcPct val="100000"/>
              </a:lnSpc>
              <a:spcAft>
                <a:spcPts val="0"/>
              </a:spcAft>
            </a:pPr>
            <a:r>
              <a:rPr sz="1150" b="0" i="0">
                <a:solidFill>
                  <a:srgbClr val="6B7280"/>
                </a:solidFill>
                <a:latin typeface="Calibri"/>
              </a:rPr>
              <a:t>Copy counts can never drift out of step with the loans.</a:t>
            </a:r>
          </a:p>
        </p:txBody>
      </p:sp>
      <p:sp>
        <p:nvSpPr>
          <p:cNvPr id="25" name="TextBox 24"/>
          <p:cNvSpPr txBox="1"/>
          <p:nvPr/>
        </p:nvSpPr>
        <p:spPr>
          <a:xfrm>
            <a:off x="7269480" y="1170432"/>
            <a:ext cx="4544568" cy="274320"/>
          </a:xfrm>
          <a:prstGeom prst="rect">
            <a:avLst/>
          </a:prstGeom>
          <a:noFill/>
        </p:spPr>
        <p:txBody>
          <a:bodyPr wrap="square" anchor="t" lIns="0" rIns="0" tIns="0" bIns="0">
            <a:spAutoFit/>
          </a:bodyPr>
          <a:lstStyle/>
          <a:p>
            <a:pPr algn="l">
              <a:spcAft>
                <a:spcPts val="0"/>
              </a:spcAft>
            </a:pPr>
            <a:r>
              <a:rPr sz="1500" b="1" i="0">
                <a:solidFill>
                  <a:srgbClr val="13233A"/>
                </a:solidFill>
                <a:latin typeface="Calibri"/>
              </a:rPr>
              <a:t>How a fine is worked out</a:t>
            </a:r>
          </a:p>
        </p:txBody>
      </p:sp>
      <p:sp>
        <p:nvSpPr>
          <p:cNvPr id="26" name="Rounded Rectangle 25"/>
          <p:cNvSpPr/>
          <p:nvPr/>
        </p:nvSpPr>
        <p:spPr>
          <a:xfrm>
            <a:off x="7269480" y="1572768"/>
            <a:ext cx="4544568" cy="749808"/>
          </a:xfrm>
          <a:prstGeom prst="roundRect">
            <a:avLst>
              <a:gd name="adj" fmla="val 10000"/>
            </a:avLst>
          </a:prstGeom>
          <a:solidFill>
            <a:srgbClr val="E8EF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64007" bIns="64007"/>
          <a:lstStyle/>
          <a:p>
            <a:pPr algn="ctr">
              <a:spcAft>
                <a:spcPts val="0"/>
              </a:spcAft>
            </a:pPr>
            <a:r>
              <a:rPr sz="2000" b="1" i="0">
                <a:solidFill>
                  <a:srgbClr val="2563EB"/>
                </a:solidFill>
                <a:latin typeface="Calibri"/>
              </a:rPr>
              <a:t>days late  ×  daily rate</a:t>
            </a:r>
          </a:p>
        </p:txBody>
      </p:sp>
      <p:sp>
        <p:nvSpPr>
          <p:cNvPr id="27" name="Rounded Rectangle 26"/>
          <p:cNvSpPr/>
          <p:nvPr/>
        </p:nvSpPr>
        <p:spPr>
          <a:xfrm>
            <a:off x="7269480" y="2468880"/>
            <a:ext cx="4544568" cy="1773936"/>
          </a:xfrm>
          <a:prstGeom prst="roundRect">
            <a:avLst>
              <a:gd name="adj" fmla="val 6000"/>
            </a:avLst>
          </a:prstGeom>
          <a:solidFill>
            <a:srgbClr val="FFFFFF"/>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spcAft>
                <a:spcPts val="700"/>
              </a:spcAft>
            </a:pPr>
            <a:r>
              <a:rPr sz="1000" b="1" i="0">
                <a:solidFill>
                  <a:srgbClr val="6B7280"/>
                </a:solidFill>
                <a:latin typeface="Calibri"/>
              </a:rPr>
              <a:t>WORKED EXAMPLE</a:t>
            </a:r>
          </a:p>
          <a:p>
            <a:pPr algn="l">
              <a:spcAft>
                <a:spcPts val="400"/>
              </a:spcAft>
            </a:pPr>
            <a:r>
              <a:rPr sz="1250" b="1" i="0">
                <a:solidFill>
                  <a:srgbClr val="13233A"/>
                </a:solidFill>
                <a:latin typeface="Calibri"/>
              </a:rPr>
              <a:t>Borrowed</a:t>
            </a:r>
            <a:r>
              <a:rPr sz="1250" b="0" i="0">
                <a:solidFill>
                  <a:srgbClr val="111111"/>
                </a:solidFill>
                <a:latin typeface="Calibri"/>
              </a:rPr>
              <a:t>  1 October</a:t>
            </a:r>
          </a:p>
          <a:p>
            <a:pPr algn="l">
              <a:spcAft>
                <a:spcPts val="400"/>
              </a:spcAft>
            </a:pPr>
            <a:r>
              <a:rPr sz="1250" b="1" i="0">
                <a:solidFill>
                  <a:srgbClr val="13233A"/>
                </a:solidFill>
                <a:latin typeface="Calibri"/>
              </a:rPr>
              <a:t>Due back</a:t>
            </a:r>
            <a:r>
              <a:rPr sz="1250" b="0" i="0">
                <a:solidFill>
                  <a:srgbClr val="111111"/>
                </a:solidFill>
                <a:latin typeface="Calibri"/>
              </a:rPr>
              <a:t>  15 October  (14-day loan)</a:t>
            </a:r>
          </a:p>
          <a:p>
            <a:pPr algn="l">
              <a:spcAft>
                <a:spcPts val="800"/>
              </a:spcAft>
            </a:pPr>
            <a:r>
              <a:rPr sz="1250" b="1" i="0">
                <a:solidFill>
                  <a:srgbClr val="13233A"/>
                </a:solidFill>
                <a:latin typeface="Calibri"/>
              </a:rPr>
              <a:t>Returned</a:t>
            </a:r>
            <a:r>
              <a:rPr sz="1250" b="0" i="0">
                <a:solidFill>
                  <a:srgbClr val="111111"/>
                </a:solidFill>
                <a:latin typeface="Calibri"/>
              </a:rPr>
              <a:t>  18 October  →  3 days late</a:t>
            </a:r>
          </a:p>
          <a:p>
            <a:pPr algn="l">
              <a:spcAft>
                <a:spcPts val="0"/>
              </a:spcAft>
            </a:pPr>
            <a:r>
              <a:rPr sz="1500" b="1" i="0">
                <a:solidFill>
                  <a:srgbClr val="B91C1C"/>
                </a:solidFill>
                <a:latin typeface="Calibri"/>
              </a:rPr>
              <a:t>Fine  =  3  ×  ₹2.00  =  ₹6.00</a:t>
            </a:r>
          </a:p>
        </p:txBody>
      </p:sp>
      <p:sp>
        <p:nvSpPr>
          <p:cNvPr id="28" name="Rounded Rectangle 27"/>
          <p:cNvSpPr/>
          <p:nvPr/>
        </p:nvSpPr>
        <p:spPr>
          <a:xfrm>
            <a:off x="7269480" y="4407408"/>
            <a:ext cx="4544568" cy="1554480"/>
          </a:xfrm>
          <a:prstGeom prst="roundRect">
            <a:avLst>
              <a:gd name="adj" fmla="val 6000"/>
            </a:avLst>
          </a:prstGeom>
          <a:solidFill>
            <a:srgbClr val="F4F7FC"/>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spcAft>
                <a:spcPts val="500"/>
              </a:spcAft>
            </a:pPr>
            <a:r>
              <a:rPr sz="1250" b="1" i="0">
                <a:solidFill>
                  <a:srgbClr val="13233A"/>
                </a:solidFill>
                <a:latin typeface="Calibri"/>
              </a:rPr>
              <a:t>At the counter</a:t>
            </a:r>
          </a:p>
          <a:p>
            <a:pPr algn="l">
              <a:lnSpc>
                <a:spcPct val="105000"/>
              </a:lnSpc>
              <a:spcAft>
                <a:spcPts val="500"/>
              </a:spcAft>
            </a:pPr>
            <a:r>
              <a:rPr sz="1150" b="0" i="0">
                <a:solidFill>
                  <a:srgbClr val="111111"/>
                </a:solidFill>
                <a:latin typeface="Calibri"/>
              </a:rPr>
              <a:t>While a book is out and late the fine keeps growing, and shows on the dashboard. It is only written down when the return is accepted — and at that moment it can be charged or waived.</a:t>
            </a:r>
          </a:p>
          <a:p>
            <a:pPr algn="l">
              <a:spcAft>
                <a:spcPts val="0"/>
              </a:spcAft>
            </a:pPr>
            <a:r>
              <a:rPr sz="1150" b="0" i="1">
                <a:solidFill>
                  <a:srgbClr val="6B7280"/>
                </a:solidFill>
                <a:latin typeface="Calibri"/>
              </a:rPr>
              <a:t>Loan length and daily rate are set on the Settings tab.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69264" cy="1097280"/>
          </a:xfrm>
          <a:prstGeom prst="rect">
            <a:avLst/>
          </a:prstGeom>
        </p:spPr>
      </p:pic>
      <p:sp>
        <p:nvSpPr>
          <p:cNvPr id="3" name="TextBox 2"/>
          <p:cNvSpPr txBox="1"/>
          <p:nvPr/>
        </p:nvSpPr>
        <p:spPr>
          <a:xfrm>
            <a:off x="1097280" y="109728"/>
            <a:ext cx="9994392" cy="777240"/>
          </a:xfrm>
          <a:prstGeom prst="rect">
            <a:avLst/>
          </a:prstGeom>
          <a:noFill/>
        </p:spPr>
        <p:txBody>
          <a:bodyPr wrap="square" anchor="ctr">
            <a:spAutoFit/>
          </a:bodyPr>
          <a:lstStyle/>
          <a:p>
            <a:pPr algn="ctr"/>
            <a:r>
              <a:rPr sz="3200">
                <a:solidFill>
                  <a:srgbClr val="111111"/>
                </a:solidFill>
                <a:latin typeface="Calibri"/>
              </a:rPr>
              <a:t>Application Screenshots</a:t>
            </a:r>
          </a:p>
        </p:txBody>
      </p:sp>
      <p:sp>
        <p:nvSpPr>
          <p:cNvPr id="4" name="Rectangle 3"/>
          <p:cNvSpPr/>
          <p:nvPr/>
        </p:nvSpPr>
        <p:spPr>
          <a:xfrm>
            <a:off x="0" y="6510528"/>
            <a:ext cx="12188952" cy="347472"/>
          </a:xfrm>
          <a:prstGeom prst="rect">
            <a:avLst/>
          </a:prstGeom>
          <a:solidFill>
            <a:srgbClr val="43A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510528"/>
            <a:ext cx="10908792" cy="347472"/>
          </a:xfrm>
          <a:prstGeom prst="rect">
            <a:avLst/>
          </a:prstGeom>
          <a:noFill/>
        </p:spPr>
        <p:txBody>
          <a:bodyPr wrap="square" anchor="ctr">
            <a:spAutoFit/>
          </a:bodyPr>
          <a:lstStyle/>
          <a:p>
            <a:pPr algn="ctr"/>
            <a:r>
              <a:rPr sz="1300" b="1">
                <a:solidFill>
                  <a:srgbClr val="111111"/>
                </a:solidFill>
                <a:latin typeface="Calibri"/>
              </a:rPr>
              <a:t>Department of CSE-IOTCSBT, Vishwakarma Institute of Technology, Pune-37</a:t>
            </a:r>
          </a:p>
        </p:txBody>
      </p:sp>
      <p:sp>
        <p:nvSpPr>
          <p:cNvPr id="6" name="TextBox 5"/>
          <p:cNvSpPr txBox="1"/>
          <p:nvPr/>
        </p:nvSpPr>
        <p:spPr>
          <a:xfrm>
            <a:off x="11365992" y="6510528"/>
            <a:ext cx="640080" cy="347472"/>
          </a:xfrm>
          <a:prstGeom prst="rect">
            <a:avLst/>
          </a:prstGeom>
          <a:noFill/>
        </p:spPr>
        <p:txBody>
          <a:bodyPr wrap="none" anchor="ctr">
            <a:spAutoFit/>
          </a:bodyPr>
          <a:lstStyle/>
          <a:p>
            <a:pPr algn="r"/>
            <a:r>
              <a:rPr sz="1200" b="1">
                <a:solidFill>
                  <a:srgbClr val="111111"/>
                </a:solidFill>
                <a:latin typeface="Calibri"/>
              </a:rPr>
              <a:t>9</a:t>
            </a:r>
          </a:p>
        </p:txBody>
      </p:sp>
      <p:pic>
        <p:nvPicPr>
          <p:cNvPr id="7" name="Picture 6" descr="dashboard.png"/>
          <p:cNvPicPr>
            <a:picLocks noChangeAspect="1"/>
          </p:cNvPicPr>
          <p:nvPr/>
        </p:nvPicPr>
        <p:blipFill>
          <a:blip r:embed="rId3"/>
          <a:stretch>
            <a:fillRect/>
          </a:stretch>
        </p:blipFill>
        <p:spPr>
          <a:xfrm>
            <a:off x="411480" y="1207008"/>
            <a:ext cx="5623560" cy="3385383"/>
          </a:xfrm>
          <a:prstGeom prst="rect">
            <a:avLst/>
          </a:prstGeom>
        </p:spPr>
      </p:pic>
      <p:sp>
        <p:nvSpPr>
          <p:cNvPr id="8" name="Rectangle 7"/>
          <p:cNvSpPr/>
          <p:nvPr/>
        </p:nvSpPr>
        <p:spPr>
          <a:xfrm>
            <a:off x="411480" y="1207008"/>
            <a:ext cx="5623560" cy="3385383"/>
          </a:xfrm>
          <a:prstGeom prst="rect">
            <a:avLst/>
          </a:prstGeom>
          <a:noFill/>
          <a:ln w="9525">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411480" y="4665543"/>
            <a:ext cx="5623560" cy="274320"/>
          </a:xfrm>
          <a:prstGeom prst="rect">
            <a:avLst/>
          </a:prstGeom>
          <a:noFill/>
        </p:spPr>
        <p:txBody>
          <a:bodyPr wrap="square" anchor="t" lIns="0" rIns="0" tIns="0" bIns="0">
            <a:spAutoFit/>
          </a:bodyPr>
          <a:lstStyle/>
          <a:p>
            <a:pPr algn="l">
              <a:spcAft>
                <a:spcPts val="0"/>
              </a:spcAft>
            </a:pPr>
            <a:r>
              <a:rPr sz="1150" b="1" i="0">
                <a:solidFill>
                  <a:srgbClr val="13233A"/>
                </a:solidFill>
                <a:latin typeface="Calibri"/>
              </a:rPr>
              <a:t>Dashboard — </a:t>
            </a:r>
            <a:r>
              <a:rPr sz="1150" b="0" i="0">
                <a:solidFill>
                  <a:srgbClr val="6B7280"/>
                </a:solidFill>
                <a:latin typeface="Calibri"/>
              </a:rPr>
              <a:t>counts, fines outstanding, and a red list of what is overdue</a:t>
            </a:r>
          </a:p>
        </p:txBody>
      </p:sp>
      <p:pic>
        <p:nvPicPr>
          <p:cNvPr id="10" name="Picture 9" descr="catalogue.png"/>
          <p:cNvPicPr>
            <a:picLocks noChangeAspect="1"/>
          </p:cNvPicPr>
          <p:nvPr/>
        </p:nvPicPr>
        <p:blipFill>
          <a:blip r:embed="rId4"/>
          <a:stretch>
            <a:fillRect/>
          </a:stretch>
        </p:blipFill>
        <p:spPr>
          <a:xfrm>
            <a:off x="6126480" y="1207008"/>
            <a:ext cx="2793492" cy="1681682"/>
          </a:xfrm>
          <a:prstGeom prst="rect">
            <a:avLst/>
          </a:prstGeom>
        </p:spPr>
      </p:pic>
      <p:sp>
        <p:nvSpPr>
          <p:cNvPr id="11" name="Rectangle 10"/>
          <p:cNvSpPr/>
          <p:nvPr/>
        </p:nvSpPr>
        <p:spPr>
          <a:xfrm>
            <a:off x="6126480" y="1207008"/>
            <a:ext cx="2793492" cy="1681682"/>
          </a:xfrm>
          <a:prstGeom prst="rect">
            <a:avLst/>
          </a:prstGeom>
          <a:noFill/>
          <a:ln w="9525">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126480" y="2943554"/>
            <a:ext cx="2793492" cy="274320"/>
          </a:xfrm>
          <a:prstGeom prst="rect">
            <a:avLst/>
          </a:prstGeom>
          <a:noFill/>
        </p:spPr>
        <p:txBody>
          <a:bodyPr wrap="square" anchor="t" lIns="0" rIns="0" tIns="0" bIns="0">
            <a:spAutoFit/>
          </a:bodyPr>
          <a:lstStyle/>
          <a:p>
            <a:pPr algn="l">
              <a:lnSpc>
                <a:spcPct val="100000"/>
              </a:lnSpc>
              <a:spcAft>
                <a:spcPts val="0"/>
              </a:spcAft>
            </a:pPr>
            <a:r>
              <a:rPr sz="1050" b="0" i="0">
                <a:solidFill>
                  <a:srgbClr val="6B7280"/>
                </a:solidFill>
                <a:latin typeface="Calibri"/>
              </a:rPr>
              <a:t>Catalogue — search, filter and edit books</a:t>
            </a:r>
          </a:p>
        </p:txBody>
      </p:sp>
      <p:pic>
        <p:nvPicPr>
          <p:cNvPr id="13" name="Picture 12" descr="members.png"/>
          <p:cNvPicPr>
            <a:picLocks noChangeAspect="1"/>
          </p:cNvPicPr>
          <p:nvPr/>
        </p:nvPicPr>
        <p:blipFill>
          <a:blip r:embed="rId5"/>
          <a:stretch>
            <a:fillRect/>
          </a:stretch>
        </p:blipFill>
        <p:spPr>
          <a:xfrm>
            <a:off x="9029700" y="1207008"/>
            <a:ext cx="2793492" cy="1681682"/>
          </a:xfrm>
          <a:prstGeom prst="rect">
            <a:avLst/>
          </a:prstGeom>
        </p:spPr>
      </p:pic>
      <p:sp>
        <p:nvSpPr>
          <p:cNvPr id="14" name="Rectangle 13"/>
          <p:cNvSpPr/>
          <p:nvPr/>
        </p:nvSpPr>
        <p:spPr>
          <a:xfrm>
            <a:off x="9029700" y="1207008"/>
            <a:ext cx="2793492" cy="1681682"/>
          </a:xfrm>
          <a:prstGeom prst="rect">
            <a:avLst/>
          </a:prstGeom>
          <a:noFill/>
          <a:ln w="9525">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029700" y="2943554"/>
            <a:ext cx="2793492" cy="274320"/>
          </a:xfrm>
          <a:prstGeom prst="rect">
            <a:avLst/>
          </a:prstGeom>
          <a:noFill/>
        </p:spPr>
        <p:txBody>
          <a:bodyPr wrap="square" anchor="t" lIns="0" rIns="0" tIns="0" bIns="0">
            <a:spAutoFit/>
          </a:bodyPr>
          <a:lstStyle/>
          <a:p>
            <a:pPr algn="l">
              <a:lnSpc>
                <a:spcPct val="100000"/>
              </a:lnSpc>
              <a:spcAft>
                <a:spcPts val="0"/>
              </a:spcAft>
            </a:pPr>
            <a:r>
              <a:rPr sz="1050" b="0" i="0">
                <a:solidFill>
                  <a:srgbClr val="6B7280"/>
                </a:solidFill>
                <a:latin typeface="Calibri"/>
              </a:rPr>
              <a:t>Members — limits, dues and full history</a:t>
            </a:r>
          </a:p>
        </p:txBody>
      </p:sp>
      <p:pic>
        <p:nvPicPr>
          <p:cNvPr id="16" name="Picture 15" descr="circulation.png"/>
          <p:cNvPicPr>
            <a:picLocks noChangeAspect="1"/>
          </p:cNvPicPr>
          <p:nvPr/>
        </p:nvPicPr>
        <p:blipFill>
          <a:blip r:embed="rId6"/>
          <a:stretch>
            <a:fillRect/>
          </a:stretch>
        </p:blipFill>
        <p:spPr>
          <a:xfrm>
            <a:off x="6126480" y="3309314"/>
            <a:ext cx="2793492" cy="1681682"/>
          </a:xfrm>
          <a:prstGeom prst="rect">
            <a:avLst/>
          </a:prstGeom>
        </p:spPr>
      </p:pic>
      <p:sp>
        <p:nvSpPr>
          <p:cNvPr id="17" name="Rectangle 16"/>
          <p:cNvSpPr/>
          <p:nvPr/>
        </p:nvSpPr>
        <p:spPr>
          <a:xfrm>
            <a:off x="6126480" y="3309314"/>
            <a:ext cx="2793492" cy="1681682"/>
          </a:xfrm>
          <a:prstGeom prst="rect">
            <a:avLst/>
          </a:prstGeom>
          <a:noFill/>
          <a:ln w="9525">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126480" y="5045860"/>
            <a:ext cx="2793492" cy="274320"/>
          </a:xfrm>
          <a:prstGeom prst="rect">
            <a:avLst/>
          </a:prstGeom>
          <a:noFill/>
        </p:spPr>
        <p:txBody>
          <a:bodyPr wrap="square" anchor="t" lIns="0" rIns="0" tIns="0" bIns="0">
            <a:spAutoFit/>
          </a:bodyPr>
          <a:lstStyle/>
          <a:p>
            <a:pPr algn="l">
              <a:lnSpc>
                <a:spcPct val="100000"/>
              </a:lnSpc>
              <a:spcAft>
                <a:spcPts val="0"/>
              </a:spcAft>
            </a:pPr>
            <a:r>
              <a:rPr sz="1050" b="0" i="0">
                <a:solidFill>
                  <a:srgbClr val="6B7280"/>
                </a:solidFill>
                <a:latin typeface="Calibri"/>
              </a:rPr>
              <a:t>Circulation — issue, return, renew, settle</a:t>
            </a:r>
          </a:p>
        </p:txBody>
      </p:sp>
      <p:pic>
        <p:nvPicPr>
          <p:cNvPr id="19" name="Picture 18" descr="settings.png"/>
          <p:cNvPicPr>
            <a:picLocks noChangeAspect="1"/>
          </p:cNvPicPr>
          <p:nvPr/>
        </p:nvPicPr>
        <p:blipFill>
          <a:blip r:embed="rId7"/>
          <a:stretch>
            <a:fillRect/>
          </a:stretch>
        </p:blipFill>
        <p:spPr>
          <a:xfrm>
            <a:off x="9029700" y="3309314"/>
            <a:ext cx="2793492" cy="1681682"/>
          </a:xfrm>
          <a:prstGeom prst="rect">
            <a:avLst/>
          </a:prstGeom>
        </p:spPr>
      </p:pic>
      <p:sp>
        <p:nvSpPr>
          <p:cNvPr id="20" name="Rectangle 19"/>
          <p:cNvSpPr/>
          <p:nvPr/>
        </p:nvSpPr>
        <p:spPr>
          <a:xfrm>
            <a:off x="9029700" y="3309314"/>
            <a:ext cx="2793492" cy="1681682"/>
          </a:xfrm>
          <a:prstGeom prst="rect">
            <a:avLst/>
          </a:prstGeom>
          <a:noFill/>
          <a:ln w="9525">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029700" y="5045860"/>
            <a:ext cx="2793492" cy="274320"/>
          </a:xfrm>
          <a:prstGeom prst="rect">
            <a:avLst/>
          </a:prstGeom>
          <a:noFill/>
        </p:spPr>
        <p:txBody>
          <a:bodyPr wrap="square" anchor="t" lIns="0" rIns="0" tIns="0" bIns="0">
            <a:spAutoFit/>
          </a:bodyPr>
          <a:lstStyle/>
          <a:p>
            <a:pPr algn="l">
              <a:lnSpc>
                <a:spcPct val="100000"/>
              </a:lnSpc>
              <a:spcAft>
                <a:spcPts val="0"/>
              </a:spcAft>
            </a:pPr>
            <a:r>
              <a:rPr sz="1050" b="0" i="0">
                <a:solidFill>
                  <a:srgbClr val="6B7280"/>
                </a:solidFill>
                <a:latin typeface="Calibri"/>
              </a:rPr>
              <a:t>Settings — rules, CSV export and backup</a:t>
            </a:r>
          </a:p>
        </p:txBody>
      </p:sp>
      <p:sp>
        <p:nvSpPr>
          <p:cNvPr id="22" name="Rounded Rectangle 21"/>
          <p:cNvSpPr/>
          <p:nvPr/>
        </p:nvSpPr>
        <p:spPr>
          <a:xfrm>
            <a:off x="411480" y="5577840"/>
            <a:ext cx="11402568" cy="658368"/>
          </a:xfrm>
          <a:prstGeom prst="roundRect">
            <a:avLst>
              <a:gd name="adj" fmla="val 10000"/>
            </a:avLst>
          </a:prstGeom>
          <a:solidFill>
            <a:srgbClr val="E8EF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9611" bIns="89611"/>
          <a:lstStyle/>
          <a:p>
            <a:pPr algn="ctr">
              <a:spcAft>
                <a:spcPts val="0"/>
              </a:spcAft>
            </a:pPr>
            <a:r>
              <a:rPr sz="1200" b="1" i="0">
                <a:solidFill>
                  <a:srgbClr val="13233A"/>
                </a:solidFill>
                <a:latin typeface="Calibri"/>
              </a:rPr>
              <a:t>Five tabs, one window.  </a:t>
            </a:r>
            <a:r>
              <a:rPr sz="1200" b="0" i="0">
                <a:solidFill>
                  <a:srgbClr val="111111"/>
                </a:solidFill>
                <a:latin typeface="Calibri"/>
              </a:rPr>
              <a:t>Ctrl+1…5 jumps between tabs · Ctrl+F searches · F5 reloads · overdue rows are red, out-of-stock titles orange.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69264" cy="1097280"/>
          </a:xfrm>
          <a:prstGeom prst="rect">
            <a:avLst/>
          </a:prstGeom>
        </p:spPr>
      </p:pic>
      <p:sp>
        <p:nvSpPr>
          <p:cNvPr id="3" name="TextBox 2"/>
          <p:cNvSpPr txBox="1"/>
          <p:nvPr/>
        </p:nvSpPr>
        <p:spPr>
          <a:xfrm>
            <a:off x="1097280" y="109728"/>
            <a:ext cx="9994392" cy="777240"/>
          </a:xfrm>
          <a:prstGeom prst="rect">
            <a:avLst/>
          </a:prstGeom>
          <a:noFill/>
        </p:spPr>
        <p:txBody>
          <a:bodyPr wrap="square" anchor="ctr">
            <a:spAutoFit/>
          </a:bodyPr>
          <a:lstStyle/>
          <a:p>
            <a:pPr algn="ctr"/>
            <a:r>
              <a:rPr sz="3200">
                <a:solidFill>
                  <a:srgbClr val="111111"/>
                </a:solidFill>
                <a:latin typeface="Calibri"/>
              </a:rPr>
              <a:t>Testing, Results and Conclusion</a:t>
            </a:r>
          </a:p>
        </p:txBody>
      </p:sp>
      <p:sp>
        <p:nvSpPr>
          <p:cNvPr id="4" name="Rectangle 3"/>
          <p:cNvSpPr/>
          <p:nvPr/>
        </p:nvSpPr>
        <p:spPr>
          <a:xfrm>
            <a:off x="0" y="6510528"/>
            <a:ext cx="12188952" cy="347472"/>
          </a:xfrm>
          <a:prstGeom prst="rect">
            <a:avLst/>
          </a:prstGeom>
          <a:solidFill>
            <a:srgbClr val="43A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510528"/>
            <a:ext cx="10908792" cy="347472"/>
          </a:xfrm>
          <a:prstGeom prst="rect">
            <a:avLst/>
          </a:prstGeom>
          <a:noFill/>
        </p:spPr>
        <p:txBody>
          <a:bodyPr wrap="square" anchor="ctr">
            <a:spAutoFit/>
          </a:bodyPr>
          <a:lstStyle/>
          <a:p>
            <a:pPr algn="ctr"/>
            <a:r>
              <a:rPr sz="1300" b="1">
                <a:solidFill>
                  <a:srgbClr val="111111"/>
                </a:solidFill>
                <a:latin typeface="Calibri"/>
              </a:rPr>
              <a:t>Department of CSE-IOTCSBT, Vishwakarma Institute of Technology, Pune-37</a:t>
            </a:r>
          </a:p>
        </p:txBody>
      </p:sp>
      <p:sp>
        <p:nvSpPr>
          <p:cNvPr id="6" name="TextBox 5"/>
          <p:cNvSpPr txBox="1"/>
          <p:nvPr/>
        </p:nvSpPr>
        <p:spPr>
          <a:xfrm>
            <a:off x="11365992" y="6510528"/>
            <a:ext cx="640080" cy="347472"/>
          </a:xfrm>
          <a:prstGeom prst="rect">
            <a:avLst/>
          </a:prstGeom>
          <a:noFill/>
        </p:spPr>
        <p:txBody>
          <a:bodyPr wrap="none" anchor="ctr">
            <a:spAutoFit/>
          </a:bodyPr>
          <a:lstStyle/>
          <a:p>
            <a:pPr algn="r"/>
            <a:r>
              <a:rPr sz="1200" b="1">
                <a:solidFill>
                  <a:srgbClr val="111111"/>
                </a:solidFill>
                <a:latin typeface="Calibri"/>
              </a:rPr>
              <a:t>10</a:t>
            </a:r>
          </a:p>
        </p:txBody>
      </p:sp>
      <p:sp>
        <p:nvSpPr>
          <p:cNvPr id="7" name="Rounded Rectangle 6"/>
          <p:cNvSpPr/>
          <p:nvPr/>
        </p:nvSpPr>
        <p:spPr>
          <a:xfrm>
            <a:off x="411480" y="1133856"/>
            <a:ext cx="2761488" cy="914400"/>
          </a:xfrm>
          <a:prstGeom prst="roundRect">
            <a:avLst>
              <a:gd name="adj" fmla="val 12000"/>
            </a:avLst>
          </a:prstGeom>
          <a:solidFill>
            <a:srgbClr val="E8EF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51206"/>
          <a:lstStyle/>
          <a:p>
            <a:pPr algn="ctr">
              <a:spcAft>
                <a:spcPts val="200"/>
              </a:spcAft>
            </a:pPr>
            <a:r>
              <a:rPr sz="3000" b="1" i="0">
                <a:solidFill>
                  <a:srgbClr val="047857"/>
                </a:solidFill>
                <a:latin typeface="Calibri"/>
              </a:rPr>
              <a:t>70</a:t>
            </a:r>
          </a:p>
          <a:p>
            <a:pPr algn="ctr">
              <a:spcAft>
                <a:spcPts val="0"/>
              </a:spcAft>
            </a:pPr>
            <a:r>
              <a:rPr sz="1100" b="0" i="0">
                <a:solidFill>
                  <a:srgbClr val="13233A"/>
                </a:solidFill>
                <a:latin typeface="Calibri"/>
              </a:rPr>
              <a:t>tests, all passing</a:t>
            </a:r>
          </a:p>
        </p:txBody>
      </p:sp>
      <p:sp>
        <p:nvSpPr>
          <p:cNvPr id="8" name="Rounded Rectangle 7"/>
          <p:cNvSpPr/>
          <p:nvPr/>
        </p:nvSpPr>
        <p:spPr>
          <a:xfrm>
            <a:off x="3310128" y="1133856"/>
            <a:ext cx="2761488" cy="914400"/>
          </a:xfrm>
          <a:prstGeom prst="roundRect">
            <a:avLst>
              <a:gd name="adj" fmla="val 12000"/>
            </a:avLst>
          </a:prstGeom>
          <a:solidFill>
            <a:srgbClr val="E8EF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51206"/>
          <a:lstStyle/>
          <a:p>
            <a:pPr algn="ctr">
              <a:spcAft>
                <a:spcPts val="200"/>
              </a:spcAft>
            </a:pPr>
            <a:r>
              <a:rPr sz="3000" b="1" i="0">
                <a:solidFill>
                  <a:srgbClr val="2563EB"/>
                </a:solidFill>
                <a:latin typeface="Calibri"/>
              </a:rPr>
              <a:t>47</a:t>
            </a:r>
          </a:p>
          <a:p>
            <a:pPr algn="ctr">
              <a:spcAft>
                <a:spcPts val="0"/>
              </a:spcAft>
            </a:pPr>
            <a:r>
              <a:rPr sz="1100" b="0" i="0">
                <a:solidFill>
                  <a:srgbClr val="13233A"/>
                </a:solidFill>
                <a:latin typeface="Calibri"/>
              </a:rPr>
              <a:t>rule and database tests</a:t>
            </a:r>
          </a:p>
        </p:txBody>
      </p:sp>
      <p:sp>
        <p:nvSpPr>
          <p:cNvPr id="9" name="Rounded Rectangle 8"/>
          <p:cNvSpPr/>
          <p:nvPr/>
        </p:nvSpPr>
        <p:spPr>
          <a:xfrm>
            <a:off x="6208776" y="1133856"/>
            <a:ext cx="2761488" cy="914400"/>
          </a:xfrm>
          <a:prstGeom prst="roundRect">
            <a:avLst>
              <a:gd name="adj" fmla="val 12000"/>
            </a:avLst>
          </a:prstGeom>
          <a:solidFill>
            <a:srgbClr val="E8EF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51206"/>
          <a:lstStyle/>
          <a:p>
            <a:pPr algn="ctr">
              <a:spcAft>
                <a:spcPts val="200"/>
              </a:spcAft>
            </a:pPr>
            <a:r>
              <a:rPr sz="3000" b="1" i="0">
                <a:solidFill>
                  <a:srgbClr val="2563EB"/>
                </a:solidFill>
                <a:latin typeface="Calibri"/>
              </a:rPr>
              <a:t>23</a:t>
            </a:r>
          </a:p>
          <a:p>
            <a:pPr algn="ctr">
              <a:spcAft>
                <a:spcPts val="0"/>
              </a:spcAft>
            </a:pPr>
            <a:r>
              <a:rPr sz="1100" b="0" i="0">
                <a:solidFill>
                  <a:srgbClr val="13233A"/>
                </a:solidFill>
                <a:latin typeface="Calibri"/>
              </a:rPr>
              <a:t>interface tests</a:t>
            </a:r>
          </a:p>
        </p:txBody>
      </p:sp>
      <p:sp>
        <p:nvSpPr>
          <p:cNvPr id="10" name="Rounded Rectangle 9"/>
          <p:cNvSpPr/>
          <p:nvPr/>
        </p:nvSpPr>
        <p:spPr>
          <a:xfrm>
            <a:off x="9107424" y="1133856"/>
            <a:ext cx="2761488" cy="914400"/>
          </a:xfrm>
          <a:prstGeom prst="roundRect">
            <a:avLst>
              <a:gd name="adj" fmla="val 12000"/>
            </a:avLst>
          </a:prstGeom>
          <a:solidFill>
            <a:srgbClr val="E8EF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1206" bIns="51206"/>
          <a:lstStyle/>
          <a:p>
            <a:pPr algn="ctr">
              <a:spcAft>
                <a:spcPts val="200"/>
              </a:spcAft>
            </a:pPr>
            <a:r>
              <a:rPr sz="3000" b="1" i="0">
                <a:solidFill>
                  <a:srgbClr val="13233A"/>
                </a:solidFill>
                <a:latin typeface="Calibri"/>
              </a:rPr>
              <a:t>2 × 2</a:t>
            </a:r>
          </a:p>
          <a:p>
            <a:pPr algn="ctr">
              <a:spcAft>
                <a:spcPts val="0"/>
              </a:spcAft>
            </a:pPr>
            <a:r>
              <a:rPr sz="1100" b="0" i="0">
                <a:solidFill>
                  <a:srgbClr val="13233A"/>
                </a:solidFill>
                <a:latin typeface="Calibri"/>
              </a:rPr>
              <a:t>operating systems × JDKs in CI</a:t>
            </a:r>
          </a:p>
        </p:txBody>
      </p:sp>
      <p:sp>
        <p:nvSpPr>
          <p:cNvPr id="11" name="TextBox 10"/>
          <p:cNvSpPr txBox="1"/>
          <p:nvPr/>
        </p:nvSpPr>
        <p:spPr>
          <a:xfrm>
            <a:off x="411480" y="2340864"/>
            <a:ext cx="5532120" cy="274320"/>
          </a:xfrm>
          <a:prstGeom prst="rect">
            <a:avLst/>
          </a:prstGeom>
          <a:noFill/>
        </p:spPr>
        <p:txBody>
          <a:bodyPr wrap="square" anchor="t" lIns="0" rIns="0" tIns="0" bIns="0">
            <a:spAutoFit/>
          </a:bodyPr>
          <a:lstStyle/>
          <a:p>
            <a:pPr algn="l">
              <a:spcAft>
                <a:spcPts val="0"/>
              </a:spcAft>
            </a:pPr>
            <a:r>
              <a:rPr sz="1500" b="1" i="0">
                <a:solidFill>
                  <a:srgbClr val="13233A"/>
                </a:solidFill>
                <a:latin typeface="Calibri"/>
              </a:rPr>
              <a:t>What the tests prove</a:t>
            </a:r>
          </a:p>
        </p:txBody>
      </p:sp>
      <p:sp>
        <p:nvSpPr>
          <p:cNvPr id="12" name="Oval 11"/>
          <p:cNvSpPr/>
          <p:nvPr/>
        </p:nvSpPr>
        <p:spPr>
          <a:xfrm>
            <a:off x="411480" y="2793492"/>
            <a:ext cx="137160" cy="13716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2724912"/>
            <a:ext cx="5266944" cy="548640"/>
          </a:xfrm>
          <a:prstGeom prst="rect">
            <a:avLst/>
          </a:prstGeom>
          <a:noFill/>
        </p:spPr>
        <p:txBody>
          <a:bodyPr wrap="square" anchor="t" lIns="0" rIns="0" tIns="0" bIns="0">
            <a:spAutoFit/>
          </a:bodyPr>
          <a:lstStyle/>
          <a:p>
            <a:pPr algn="l">
              <a:spcAft>
                <a:spcPts val="0"/>
              </a:spcAft>
            </a:pPr>
            <a:r>
              <a:rPr sz="1200" b="0" i="0">
                <a:solidFill>
                  <a:srgbClr val="111111"/>
                </a:solidFill>
                <a:latin typeface="Calibri"/>
              </a:rPr>
              <a:t>Fines are worked out correctly, including at the day boundaries.</a:t>
            </a:r>
          </a:p>
        </p:txBody>
      </p:sp>
      <p:sp>
        <p:nvSpPr>
          <p:cNvPr id="14" name="Oval 13"/>
          <p:cNvSpPr/>
          <p:nvPr/>
        </p:nvSpPr>
        <p:spPr>
          <a:xfrm>
            <a:off x="411480" y="3342132"/>
            <a:ext cx="137160" cy="13716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3273552"/>
            <a:ext cx="5266944" cy="548640"/>
          </a:xfrm>
          <a:prstGeom prst="rect">
            <a:avLst/>
          </a:prstGeom>
          <a:noFill/>
        </p:spPr>
        <p:txBody>
          <a:bodyPr wrap="square" anchor="t" lIns="0" rIns="0" tIns="0" bIns="0">
            <a:spAutoFit/>
          </a:bodyPr>
          <a:lstStyle/>
          <a:p>
            <a:pPr algn="l">
              <a:spcAft>
                <a:spcPts val="0"/>
              </a:spcAft>
            </a:pPr>
            <a:r>
              <a:rPr sz="1200" b="0" i="0">
                <a:solidFill>
                  <a:srgbClr val="111111"/>
                </a:solidFill>
                <a:latin typeface="Calibri"/>
              </a:rPr>
              <a:t>Copy counts stay right after every issue, return and renewal.</a:t>
            </a:r>
          </a:p>
        </p:txBody>
      </p:sp>
      <p:sp>
        <p:nvSpPr>
          <p:cNvPr id="16" name="Oval 15"/>
          <p:cNvSpPr/>
          <p:nvPr/>
        </p:nvSpPr>
        <p:spPr>
          <a:xfrm>
            <a:off x="411480" y="3890772"/>
            <a:ext cx="137160" cy="13716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6" y="3822191"/>
            <a:ext cx="5266944" cy="548640"/>
          </a:xfrm>
          <a:prstGeom prst="rect">
            <a:avLst/>
          </a:prstGeom>
          <a:noFill/>
        </p:spPr>
        <p:txBody>
          <a:bodyPr wrap="square" anchor="t" lIns="0" rIns="0" tIns="0" bIns="0">
            <a:spAutoFit/>
          </a:bodyPr>
          <a:lstStyle/>
          <a:p>
            <a:pPr algn="l">
              <a:spcAft>
                <a:spcPts val="0"/>
              </a:spcAft>
            </a:pPr>
            <a:r>
              <a:rPr sz="1200" b="0" i="0">
                <a:solidFill>
                  <a:srgbClr val="111111"/>
                </a:solidFill>
                <a:latin typeface="Calibri"/>
              </a:rPr>
              <a:t>A book that is on loan cannot be deleted.</a:t>
            </a:r>
          </a:p>
        </p:txBody>
      </p:sp>
      <p:sp>
        <p:nvSpPr>
          <p:cNvPr id="18" name="Oval 17"/>
          <p:cNvSpPr/>
          <p:nvPr/>
        </p:nvSpPr>
        <p:spPr>
          <a:xfrm>
            <a:off x="411480" y="4439412"/>
            <a:ext cx="137160" cy="13716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 y="4370831"/>
            <a:ext cx="5266944" cy="548640"/>
          </a:xfrm>
          <a:prstGeom prst="rect">
            <a:avLst/>
          </a:prstGeom>
          <a:noFill/>
        </p:spPr>
        <p:txBody>
          <a:bodyPr wrap="square" anchor="t" lIns="0" rIns="0" tIns="0" bIns="0">
            <a:spAutoFit/>
          </a:bodyPr>
          <a:lstStyle/>
          <a:p>
            <a:pPr algn="l">
              <a:spcAft>
                <a:spcPts val="0"/>
              </a:spcAft>
            </a:pPr>
            <a:r>
              <a:rPr sz="1200" b="0" i="0">
                <a:solidFill>
                  <a:srgbClr val="111111"/>
                </a:solidFill>
                <a:latin typeface="Calibri"/>
              </a:rPr>
              <a:t>Data is still there after closing and reopening the file.</a:t>
            </a:r>
          </a:p>
        </p:txBody>
      </p:sp>
      <p:sp>
        <p:nvSpPr>
          <p:cNvPr id="20" name="Oval 19"/>
          <p:cNvSpPr/>
          <p:nvPr/>
        </p:nvSpPr>
        <p:spPr>
          <a:xfrm>
            <a:off x="411480" y="4988051"/>
            <a:ext cx="137160" cy="13716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6656" y="4919471"/>
            <a:ext cx="5266944" cy="548640"/>
          </a:xfrm>
          <a:prstGeom prst="rect">
            <a:avLst/>
          </a:prstGeom>
          <a:noFill/>
        </p:spPr>
        <p:txBody>
          <a:bodyPr wrap="square" anchor="t" lIns="0" rIns="0" tIns="0" bIns="0">
            <a:spAutoFit/>
          </a:bodyPr>
          <a:lstStyle/>
          <a:p>
            <a:pPr algn="l">
              <a:spcAft>
                <a:spcPts val="0"/>
              </a:spcAft>
            </a:pPr>
            <a:r>
              <a:rPr sz="1200" b="0" i="0">
                <a:solidFill>
                  <a:srgbClr val="111111"/>
                </a:solidFill>
                <a:latin typeface="Calibri"/>
              </a:rPr>
              <a:t>The real screens are driven and checked — adding a book, catching a bad email, issuing, returning, waiving a fine.</a:t>
            </a:r>
          </a:p>
        </p:txBody>
      </p:sp>
      <p:sp>
        <p:nvSpPr>
          <p:cNvPr id="22" name="Rounded Rectangle 21"/>
          <p:cNvSpPr/>
          <p:nvPr/>
        </p:nvSpPr>
        <p:spPr>
          <a:xfrm>
            <a:off x="411480" y="5577840"/>
            <a:ext cx="5532120" cy="640080"/>
          </a:xfrm>
          <a:prstGeom prst="roundRect">
            <a:avLst>
              <a:gd name="adj" fmla="val 6000"/>
            </a:avLst>
          </a:prstGeom>
          <a:solidFill>
            <a:srgbClr val="F4F7FC"/>
          </a:solidFill>
          <a:ln w="12700">
            <a:solidFill>
              <a:srgbClr val="D7DCE3"/>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2412" bIns="102412"/>
          <a:lstStyle/>
          <a:p>
            <a:pPr algn="l">
              <a:lnSpc>
                <a:spcPct val="105000"/>
              </a:lnSpc>
              <a:spcAft>
                <a:spcPts val="0"/>
              </a:spcAft>
            </a:pPr>
            <a:r>
              <a:rPr sz="1150" b="1" i="0">
                <a:solidFill>
                  <a:srgbClr val="13233A"/>
                </a:solidFill>
                <a:latin typeface="Calibri"/>
              </a:rPr>
              <a:t>Every push is built and tested automatically: </a:t>
            </a:r>
            <a:r>
              <a:rPr sz="1150" b="0" i="0">
                <a:solidFill>
                  <a:srgbClr val="111111"/>
                </a:solidFill>
                <a:latin typeface="Calibri"/>
              </a:rPr>
              <a:t>Windows with JDK 21, and Linux with JDK 17 — the oldest version the project supports.</a:t>
            </a:r>
          </a:p>
        </p:txBody>
      </p:sp>
      <p:sp>
        <p:nvSpPr>
          <p:cNvPr id="23" name="TextBox 22"/>
          <p:cNvSpPr txBox="1"/>
          <p:nvPr/>
        </p:nvSpPr>
        <p:spPr>
          <a:xfrm>
            <a:off x="6291072" y="2340864"/>
            <a:ext cx="5522976" cy="274320"/>
          </a:xfrm>
          <a:prstGeom prst="rect">
            <a:avLst/>
          </a:prstGeom>
          <a:noFill/>
        </p:spPr>
        <p:txBody>
          <a:bodyPr wrap="square" anchor="t" lIns="0" rIns="0" tIns="0" bIns="0">
            <a:spAutoFit/>
          </a:bodyPr>
          <a:lstStyle/>
          <a:p>
            <a:pPr algn="l">
              <a:spcAft>
                <a:spcPts val="0"/>
              </a:spcAft>
            </a:pPr>
            <a:r>
              <a:rPr sz="1500" b="1" i="0">
                <a:solidFill>
                  <a:srgbClr val="13233A"/>
                </a:solidFill>
                <a:latin typeface="Calibri"/>
              </a:rPr>
              <a:t>Conclusion</a:t>
            </a:r>
          </a:p>
        </p:txBody>
      </p:sp>
      <p:sp>
        <p:nvSpPr>
          <p:cNvPr id="24" name="Rounded Rectangle 23"/>
          <p:cNvSpPr/>
          <p:nvPr/>
        </p:nvSpPr>
        <p:spPr>
          <a:xfrm>
            <a:off x="6291072" y="2724912"/>
            <a:ext cx="5522976" cy="1389888"/>
          </a:xfrm>
          <a:prstGeom prst="roundRect">
            <a:avLst>
              <a:gd name="adj" fmla="val 8000"/>
            </a:avLst>
          </a:prstGeom>
          <a:solidFill>
            <a:srgbClr val="E8EF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15214" bIns="115214"/>
          <a:lstStyle/>
          <a:p>
            <a:pPr algn="l">
              <a:lnSpc>
                <a:spcPct val="105000"/>
              </a:lnSpc>
              <a:spcAft>
                <a:spcPts val="600"/>
              </a:spcAft>
            </a:pPr>
            <a:r>
              <a:rPr sz="1250" b="0" i="0">
                <a:solidFill>
                  <a:srgbClr val="111111"/>
                </a:solidFill>
                <a:latin typeface="Calibri"/>
              </a:rPr>
              <a:t>A complete, working library system in about 6,700 lines of Java, with one external dependency and no server to run.</a:t>
            </a:r>
          </a:p>
          <a:p>
            <a:pPr algn="l">
              <a:lnSpc>
                <a:spcPct val="105000"/>
              </a:lnSpc>
              <a:spcAft>
                <a:spcPts val="0"/>
              </a:spcAft>
            </a:pPr>
            <a:r>
              <a:rPr sz="1250" b="0" i="0">
                <a:solidFill>
                  <a:srgbClr val="111111"/>
                </a:solidFill>
                <a:latin typeface="Calibri"/>
              </a:rPr>
              <a:t>Keeping the rules apart from the screens is what makes it both testable and safe to extend — the lesson the project set out to demonstrate.</a:t>
            </a:r>
          </a:p>
        </p:txBody>
      </p:sp>
      <p:sp>
        <p:nvSpPr>
          <p:cNvPr id="25" name="TextBox 24"/>
          <p:cNvSpPr txBox="1"/>
          <p:nvPr/>
        </p:nvSpPr>
        <p:spPr>
          <a:xfrm>
            <a:off x="6291072" y="4297680"/>
            <a:ext cx="5522976" cy="274320"/>
          </a:xfrm>
          <a:prstGeom prst="rect">
            <a:avLst/>
          </a:prstGeom>
          <a:noFill/>
        </p:spPr>
        <p:txBody>
          <a:bodyPr wrap="square" anchor="t" lIns="0" rIns="0" tIns="0" bIns="0">
            <a:spAutoFit/>
          </a:bodyPr>
          <a:lstStyle/>
          <a:p>
            <a:pPr algn="l">
              <a:spcAft>
                <a:spcPts val="0"/>
              </a:spcAft>
            </a:pPr>
            <a:r>
              <a:rPr sz="1500" b="1" i="0">
                <a:solidFill>
                  <a:srgbClr val="13233A"/>
                </a:solidFill>
                <a:latin typeface="Calibri"/>
              </a:rPr>
              <a:t>Future scope</a:t>
            </a:r>
          </a:p>
        </p:txBody>
      </p:sp>
      <p:sp>
        <p:nvSpPr>
          <p:cNvPr id="26" name="Oval 25"/>
          <p:cNvSpPr/>
          <p:nvPr/>
        </p:nvSpPr>
        <p:spPr>
          <a:xfrm>
            <a:off x="6291072" y="4750308"/>
            <a:ext cx="137160" cy="13716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56248" y="4681728"/>
            <a:ext cx="5257800" cy="402336"/>
          </a:xfrm>
          <a:prstGeom prst="rect">
            <a:avLst/>
          </a:prstGeom>
          <a:noFill/>
        </p:spPr>
        <p:txBody>
          <a:bodyPr wrap="square" anchor="t" lIns="0" rIns="0" tIns="0" bIns="0">
            <a:spAutoFit/>
          </a:bodyPr>
          <a:lstStyle/>
          <a:p>
            <a:pPr algn="l">
              <a:spcAft>
                <a:spcPts val="0"/>
              </a:spcAft>
            </a:pPr>
            <a:r>
              <a:rPr sz="1200" b="0" i="0">
                <a:solidFill>
                  <a:srgbClr val="111111"/>
                </a:solidFill>
                <a:latin typeface="Calibri"/>
              </a:rPr>
              <a:t>Reservations and a waiting list for titles that are all out.</a:t>
            </a:r>
          </a:p>
        </p:txBody>
      </p:sp>
      <p:sp>
        <p:nvSpPr>
          <p:cNvPr id="28" name="Oval 27"/>
          <p:cNvSpPr/>
          <p:nvPr/>
        </p:nvSpPr>
        <p:spPr>
          <a:xfrm>
            <a:off x="6291072" y="5152644"/>
            <a:ext cx="137160" cy="13716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56248" y="5084064"/>
            <a:ext cx="5257800" cy="402336"/>
          </a:xfrm>
          <a:prstGeom prst="rect">
            <a:avLst/>
          </a:prstGeom>
          <a:noFill/>
        </p:spPr>
        <p:txBody>
          <a:bodyPr wrap="square" anchor="t" lIns="0" rIns="0" tIns="0" bIns="0">
            <a:spAutoFit/>
          </a:bodyPr>
          <a:lstStyle/>
          <a:p>
            <a:pPr algn="l">
              <a:spcAft>
                <a:spcPts val="0"/>
              </a:spcAft>
            </a:pPr>
            <a:r>
              <a:rPr sz="1200" b="0" i="0">
                <a:solidFill>
                  <a:srgbClr val="111111"/>
                </a:solidFill>
                <a:latin typeface="Calibri"/>
              </a:rPr>
              <a:t>Barcode scanning at the circulation desk.</a:t>
            </a:r>
          </a:p>
        </p:txBody>
      </p:sp>
      <p:sp>
        <p:nvSpPr>
          <p:cNvPr id="30" name="Oval 29"/>
          <p:cNvSpPr/>
          <p:nvPr/>
        </p:nvSpPr>
        <p:spPr>
          <a:xfrm>
            <a:off x="6291072" y="5554980"/>
            <a:ext cx="137160" cy="13716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56248" y="5486400"/>
            <a:ext cx="5257800" cy="402336"/>
          </a:xfrm>
          <a:prstGeom prst="rect">
            <a:avLst/>
          </a:prstGeom>
          <a:noFill/>
        </p:spPr>
        <p:txBody>
          <a:bodyPr wrap="square" anchor="t" lIns="0" rIns="0" tIns="0" bIns="0">
            <a:spAutoFit/>
          </a:bodyPr>
          <a:lstStyle/>
          <a:p>
            <a:pPr algn="l">
              <a:spcAft>
                <a:spcPts val="0"/>
              </a:spcAft>
            </a:pPr>
            <a:r>
              <a:rPr sz="1200" b="0" i="0">
                <a:solidFill>
                  <a:srgbClr val="111111"/>
                </a:solidFill>
                <a:latin typeface="Calibri"/>
              </a:rPr>
              <a:t>Shared access for more than one librarian at a time.</a:t>
            </a:r>
          </a:p>
        </p:txBody>
      </p:sp>
      <p:sp>
        <p:nvSpPr>
          <p:cNvPr id="32" name="Oval 31"/>
          <p:cNvSpPr/>
          <p:nvPr/>
        </p:nvSpPr>
        <p:spPr>
          <a:xfrm>
            <a:off x="6291072" y="5957316"/>
            <a:ext cx="137160" cy="13716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56248" y="5888736"/>
            <a:ext cx="5257800" cy="402336"/>
          </a:xfrm>
          <a:prstGeom prst="rect">
            <a:avLst/>
          </a:prstGeom>
          <a:noFill/>
        </p:spPr>
        <p:txBody>
          <a:bodyPr wrap="square" anchor="t" lIns="0" rIns="0" tIns="0" bIns="0">
            <a:spAutoFit/>
          </a:bodyPr>
          <a:lstStyle/>
          <a:p>
            <a:pPr algn="l">
              <a:spcAft>
                <a:spcPts val="0"/>
              </a:spcAft>
            </a:pPr>
            <a:r>
              <a:rPr sz="1200" b="0" i="0">
                <a:solidFill>
                  <a:srgbClr val="111111"/>
                </a:solidFill>
                <a:latin typeface="Calibri"/>
              </a:rPr>
              <a:t>Automatic email or SMS reminders before a book falls due.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3856</Words>
  <Application>Microsoft Office PowerPoint</Application>
  <PresentationFormat>Widescreen</PresentationFormat>
  <Paragraphs>404</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Shared P2P Solar Energy Trading — Review Deck</dc:title>
  <dc:subject>PptxGenJS Presentation</dc:subject>
  <dc:creator>Aarush Sangle, Pashmee Salunkhe, Rohan Rangapure, Sanchali Patil</dc:creator>
  <cp:lastModifiedBy>Admin</cp:lastModifiedBy>
  <cp:revision>2</cp:revision>
  <dcterms:created xsi:type="dcterms:W3CDTF">2026-09-23T21:09:03Z</dcterms:created>
  <dcterms:modified xsi:type="dcterms:W3CDTF">2026-09-23T21:18:47Z</dcterms:modified>
</cp:coreProperties>
</file>